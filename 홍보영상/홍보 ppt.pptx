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1" r:id="rId2"/>
    <p:sldId id="319" r:id="rId3"/>
    <p:sldId id="302" r:id="rId4"/>
    <p:sldId id="294" r:id="rId5"/>
    <p:sldId id="313" r:id="rId6"/>
    <p:sldId id="304" r:id="rId7"/>
    <p:sldId id="318" r:id="rId8"/>
    <p:sldId id="297" r:id="rId9"/>
    <p:sldId id="277" r:id="rId10"/>
    <p:sldId id="27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F521F61-753D-4B07-A5FA-DFFD4D663CD3}">
          <p14:sldIdLst>
            <p14:sldId id="261"/>
            <p14:sldId id="319"/>
            <p14:sldId id="302"/>
            <p14:sldId id="294"/>
            <p14:sldId id="313"/>
            <p14:sldId id="304"/>
            <p14:sldId id="318"/>
            <p14:sldId id="297"/>
          </p14:sldIdLst>
        </p14:section>
        <p14:section name="?" id="{E51C9183-E135-4683-85AA-73977F241677}">
          <p14:sldIdLst>
            <p14:sldId id="277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76577" autoAdjust="0"/>
  </p:normalViewPr>
  <p:slideViewPr>
    <p:cSldViewPr snapToGrid="0">
      <p:cViewPr varScale="1">
        <p:scale>
          <a:sx n="46" d="100"/>
          <a:sy n="46" d="100"/>
        </p:scale>
        <p:origin x="963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F3743-548B-4A96-B002-0297A566175A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DC38C-9EC1-4374-998C-6BF1BA524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46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이평가들은</a:t>
            </a:r>
            <a:r>
              <a:rPr lang="ko-KR" altLang="en-US" dirty="0"/>
              <a:t> 아직도 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DC38C-9EC1-4374-998C-6BF1BA52472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69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 현실엔 모순이 </a:t>
            </a:r>
            <a:r>
              <a:rPr lang="en-US" altLang="ko-KR" dirty="0"/>
              <a:t>..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DC38C-9EC1-4374-998C-6BF1BA52472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640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숫자가 의미하는 거는 </a:t>
            </a:r>
            <a:r>
              <a:rPr lang="en-US" altLang="ko-KR" dirty="0"/>
              <a:t>…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DC38C-9EC1-4374-998C-6BF1BA52472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507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George </a:t>
            </a:r>
            <a:r>
              <a:rPr lang="en-US" altLang="ko-KR" b="1" dirty="0" err="1"/>
              <a:t>Fuechsel</a:t>
            </a:r>
            <a:r>
              <a:rPr lang="ko-KR" altLang="en-US" dirty="0"/>
              <a:t>이라는 </a:t>
            </a:r>
            <a:r>
              <a:rPr lang="en-US" altLang="ko-KR" dirty="0"/>
              <a:t>IBM </a:t>
            </a:r>
            <a:r>
              <a:rPr lang="ko-KR" altLang="en-US" dirty="0"/>
              <a:t>프로그래머가 </a:t>
            </a:r>
            <a:r>
              <a:rPr lang="en-US" altLang="ko-KR" dirty="0"/>
              <a:t>1960</a:t>
            </a:r>
            <a:r>
              <a:rPr lang="ko-KR" altLang="en-US" dirty="0"/>
              <a:t>년대에 처음 사용한 것으로 알려져 있어요</a:t>
            </a:r>
            <a:r>
              <a:rPr lang="en-US" altLang="ko-KR" dirty="0"/>
              <a:t>. </a:t>
            </a:r>
            <a:r>
              <a:rPr lang="ko-KR" altLang="en-US" dirty="0"/>
              <a:t>컴퓨터 교육 강사였던 그가 학생들에게 </a:t>
            </a:r>
            <a:r>
              <a:rPr lang="en-US" altLang="ko-KR" dirty="0"/>
              <a:t>"</a:t>
            </a:r>
            <a:r>
              <a:rPr lang="ko-KR" altLang="en-US" dirty="0"/>
              <a:t>컴퓨터에 잘못된 입력을 넣으면 잘못된 출력이 나온다</a:t>
            </a:r>
            <a:r>
              <a:rPr lang="en-US" altLang="ko-KR" dirty="0"/>
              <a:t>"</a:t>
            </a:r>
            <a:r>
              <a:rPr lang="ko-KR" altLang="en-US" dirty="0"/>
              <a:t>는 개념을 설명하면서 쓴 표현이에요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DC38C-9EC1-4374-998C-6BF1BA52472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91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DC38C-9EC1-4374-998C-6BF1BA52472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0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FFFFFF">
                    <a:alpha val="60000"/>
                  </a:srgbClr>
                </a:solidFill>
                <a:latin typeface="Pretendard"/>
                <a:ea typeface="Pretendard"/>
              </a:rPr>
              <a:t>검증된 도구의 </a:t>
            </a:r>
            <a:r>
              <a:rPr lang="ko-KR" altLang="en-US" sz="1200" b="1" dirty="0">
                <a:solidFill>
                  <a:srgbClr val="0080FF"/>
                </a:solidFill>
                <a:latin typeface="Pretendard"/>
                <a:ea typeface="Pretendard"/>
              </a:rPr>
              <a:t>양</a:t>
            </a:r>
            <a:r>
              <a:rPr lang="ko-KR" altLang="en-US" sz="1200" dirty="0">
                <a:solidFill>
                  <a:srgbClr val="FFFFFF">
                    <a:alpha val="60000"/>
                  </a:srgbClr>
                </a:solidFill>
                <a:latin typeface="Pretendard"/>
                <a:ea typeface="Pretendard"/>
              </a:rPr>
              <a:t>만으로는 충분하지 않다  —  측정의 </a:t>
            </a:r>
            <a:r>
              <a:rPr lang="ko-KR" altLang="en-US" sz="1200" b="1" dirty="0">
                <a:solidFill>
                  <a:srgbClr val="0080FF"/>
                </a:solidFill>
                <a:latin typeface="Pretendard"/>
                <a:ea typeface="Pretendard"/>
              </a:rPr>
              <a:t>질</a:t>
            </a:r>
            <a:r>
              <a:rPr lang="ko-KR" altLang="en-US" sz="1200" dirty="0">
                <a:solidFill>
                  <a:srgbClr val="FFFFFF">
                    <a:alpha val="60000"/>
                  </a:srgbClr>
                </a:solidFill>
                <a:latin typeface="Pretendard"/>
                <a:ea typeface="Pretendard"/>
              </a:rPr>
              <a:t>이 결과를 바꾼다</a:t>
            </a:r>
          </a:p>
          <a:p>
            <a:br>
              <a:rPr lang="en-US" altLang="ko-KR" dirty="0"/>
            </a:br>
            <a:r>
              <a:rPr lang="ko-KR" altLang="en-US" dirty="0"/>
              <a:t>전국에 </a:t>
            </a:r>
            <a:r>
              <a:rPr lang="en-US" altLang="ko-KR" dirty="0"/>
              <a:t>170</a:t>
            </a:r>
            <a:r>
              <a:rPr lang="ko-KR" altLang="en-US" dirty="0"/>
              <a:t>개소 연간 </a:t>
            </a:r>
            <a:r>
              <a:rPr lang="en-US" altLang="ko-KR" dirty="0"/>
              <a:t>10</a:t>
            </a:r>
            <a:r>
              <a:rPr lang="ko-KR" altLang="en-US" dirty="0" err="1"/>
              <a:t>만건</a:t>
            </a:r>
            <a:r>
              <a:rPr lang="ko-KR" altLang="en-US" dirty="0"/>
              <a:t> 이상 실행하지만 각 병원 기준이 다르다 치료사 환경 등등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DC38C-9EC1-4374-998C-6BF1BA52472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65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DC38C-9EC1-4374-998C-6BF1BA52472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823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저희의 목표이며 슬로건입니다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DC38C-9EC1-4374-998C-6BF1BA52472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432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FD638-FBCD-59E2-1E93-F33D5750F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451689-19CB-AC16-3FF2-F364C1F1B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8FB819-06ED-98BE-410C-D11EE72B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3E1456-AFC8-7AD9-30BE-E6AF30C27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4920BA-F7C8-23BA-6047-704E6CC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55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6EF1D-A78F-41D9-3238-FE6ED0479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EE78F9-4356-6C3B-65BF-0E5358738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A2F1E-C8F1-20DF-EE58-B9A56704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846C3F-FCBD-D034-4AF2-9B511C4BC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F519F9-4384-34D8-704B-62AD7EF7C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718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66E73-EBCC-8BB8-A737-FFAF9B25E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64CDEA-BD7E-01AF-CBB0-81A269E31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89F3AF-96B8-E1DA-6FC9-A4A065AB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51BF74-0005-D761-7E29-7522A2E1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F31BF4-F9B3-FD86-82B0-626005C4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74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C35B9-121F-DC50-780F-3EBA0317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C3EED4-5A17-2DB1-0882-65D37978E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31ADE5-73C1-7C73-74A2-21130DA4D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52B8BC-8166-A1DB-1A02-8B6B0C59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0FF2A0-FC9F-D91A-CF70-E5BDFAA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FD7757-9C90-3649-9C45-8647594F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42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48748-802C-80DD-490E-B25F733AF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F8015D-5945-F6E2-617D-8D1C8398E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BA0026-F0B2-9729-8A24-6B0624EF9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91AA05-4885-B4C3-EA38-68963D836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12D073-5559-6385-1F07-024807AD6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FFC1D2-AB41-FF75-128F-08802FA7E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E3A08D-B565-8485-EBCE-547FA734E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05481D-42CF-2C95-1769-1E8C6727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449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FF785-3AA7-F4DC-5CD6-20D263C2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48F1FC-8D31-AAA5-B9EF-7FC5EE77F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6FE440-0C44-5CE6-3AB1-BDAE56A49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5407AF-5281-8E5C-637B-27B0171A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6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335425-C636-041C-1333-AC382539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3ECEC4-3530-57D2-197A-F58B5EAE1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FDB2E-97ED-6AE8-8C30-A1078813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86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9ACD4-F281-4399-34DF-9263E43C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4B960-7BF9-99DB-500E-F0159D593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1F9D7-78D6-06EA-6C59-1AFFA6E40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7DC6FB-2054-BCE4-5C46-97CCCAB1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F5609C-1F5F-A4E9-B77E-8BD94F22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4B7CC9-A2BF-BC31-4C60-AE6165004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48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3F9D2-32A9-14D4-D628-7E538AC7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6B6EC7-3E27-1BE0-6AF4-FCC5BB4FB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F5A2F0-6E9C-A346-EE19-A47C86C54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BDFA4A-598D-485D-FFAC-4ED383FD7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568E0C-5B3E-B5BE-1862-824BDBB2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7F15AB-D6E7-DC82-A543-DBA5FC89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978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0F7A2-9F18-ADAD-2DD2-5F194562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464394-BC82-AFD9-C013-A97B47A54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955911-F338-5C45-E7B9-E2FE7EB97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43DE0C-4612-7FC3-3C9F-30CAD5D9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986D24-3D20-576F-A9D4-1403E500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999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4E33C8-9278-5002-04D8-394344FE9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63A721-1F25-3262-D064-3CE4E20FA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C05858-8C87-A7C0-8ACB-2DE29FB3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1B50AC-A48F-B768-D352-DBE73B9E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2A51C5-4E21-847F-77F2-534248EE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73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AE2455D-1111-E82D-20D9-9DFCC7A8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2276CA-CBD6-1108-32EE-F2A6E2921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77AFC-4C7C-EAAC-BA37-FBB236AAB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10C28-8CFE-493D-8211-3E24A9856854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E2A96E-4635-AE27-B0E5-6A0B31A73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120E1D-F50A-3BAD-2CF2-C97F180B8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5B234-F05E-41D5-B39B-FFB5475A71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1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빛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5A5FF6-D966-8588-A82D-877F36B13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7" name="DecoCircle"/>
          <p:cNvSpPr/>
          <p:nvPr/>
        </p:nvSpPr>
        <p:spPr>
          <a:xfrm>
            <a:off x="9398000" y="4826000"/>
            <a:ext cx="2032000" cy="2032000"/>
          </a:xfrm>
          <a:prstGeom prst="ellipse">
            <a:avLst/>
          </a:prstGeom>
          <a:solidFill>
            <a:srgbClr val="0080FF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8" name="DecoCircle2"/>
          <p:cNvSpPr/>
          <p:nvPr/>
        </p:nvSpPr>
        <p:spPr>
          <a:xfrm>
            <a:off x="508000" y="762000"/>
            <a:ext cx="1270000" cy="1270000"/>
          </a:xfrm>
          <a:prstGeom prst="ellipse">
            <a:avLst/>
          </a:prstGeom>
          <a:solidFill>
            <a:srgbClr val="0080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1" name="Category"/>
          <p:cNvSpPr/>
          <p:nvPr/>
        </p:nvSpPr>
        <p:spPr>
          <a:xfrm>
            <a:off x="2286000" y="21336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1400" spc="300" dirty="0">
                <a:solidFill>
                  <a:srgbClr val="718096"/>
                </a:solidFill>
                <a:latin typeface="Pretendard"/>
                <a:ea typeface="Pretendard"/>
              </a:rPr>
              <a:t>HEALTHCARE BRAND</a:t>
            </a:r>
          </a:p>
        </p:txBody>
      </p:sp>
      <p:sp>
        <p:nvSpPr>
          <p:cNvPr id="32" name="AccentLine"/>
          <p:cNvSpPr/>
          <p:nvPr/>
        </p:nvSpPr>
        <p:spPr>
          <a:xfrm>
            <a:off x="5778500" y="2540000"/>
            <a:ext cx="635000" cy="381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3" name="BrandName"/>
          <p:cNvSpPr/>
          <p:nvPr/>
        </p:nvSpPr>
        <p:spPr>
          <a:xfrm>
            <a:off x="2286000" y="27051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altLang="ko-KR" sz="5400" b="1" dirty="0">
                <a:solidFill>
                  <a:srgbClr val="0080FF"/>
                </a:solidFill>
                <a:latin typeface="Montserrat"/>
              </a:rPr>
              <a:t>ReStep</a:t>
            </a:r>
          </a:p>
        </p:txBody>
      </p:sp>
      <p:sp>
        <p:nvSpPr>
          <p:cNvPr id="34" name="MainTitle"/>
          <p:cNvSpPr/>
          <p:nvPr/>
        </p:nvSpPr>
        <p:spPr>
          <a:xfrm>
            <a:off x="2286000" y="37846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3200"/>
              </a:lnSpc>
              <a:buNone/>
            </a:pPr>
            <a:r>
              <a:rPr lang="ko-KR" altLang="en-US" sz="2200" b="1" dirty="0">
                <a:solidFill>
                  <a:srgbClr val="0A1628"/>
                </a:solidFill>
                <a:latin typeface="Pretendard"/>
                <a:ea typeface="Pretendard"/>
              </a:rPr>
              <a:t>다시 걸을 수 있도록</a:t>
            </a:r>
          </a:p>
          <a:p>
            <a:pPr algn="ctr">
              <a:lnSpc>
                <a:spcPts val="3200"/>
              </a:lnSpc>
              <a:buNone/>
            </a:pPr>
            <a:r>
              <a:rPr lang="ko-KR" altLang="en-US" sz="2200" b="1" dirty="0">
                <a:solidFill>
                  <a:srgbClr val="0A1628"/>
                </a:solidFill>
                <a:latin typeface="Pretendard"/>
                <a:ea typeface="Pretendard"/>
              </a:rPr>
              <a:t>걸음을 함께하는 헬스케어</a:t>
            </a:r>
          </a:p>
        </p:txBody>
      </p:sp>
      <p:sp>
        <p:nvSpPr>
          <p:cNvPr id="35" name="Slogan"/>
          <p:cNvSpPr/>
          <p:nvPr/>
        </p:nvSpPr>
        <p:spPr>
          <a:xfrm>
            <a:off x="2286000" y="4851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dirty="0">
                <a:solidFill>
                  <a:srgbClr val="4A5568"/>
                </a:solidFill>
                <a:latin typeface="Pretendard"/>
                <a:ea typeface="Pretendard"/>
              </a:rPr>
              <a:t>다시 걷는 그날까지. </a:t>
            </a:r>
            <a:r>
              <a:rPr lang="en-US" altLang="ko-KR" sz="1800" b="1" dirty="0">
                <a:solidFill>
                  <a:srgbClr val="0080FF"/>
                </a:solidFill>
                <a:latin typeface="Montserrat"/>
                <a:ea typeface="Pretendard"/>
              </a:rPr>
              <a:t>ReStep</a:t>
            </a:r>
            <a:r>
              <a:rPr lang="ko-KR" altLang="en-US" sz="1600" dirty="0">
                <a:solidFill>
                  <a:srgbClr val="4A5568"/>
                </a:solidFill>
                <a:latin typeface="Pretendard"/>
                <a:ea typeface="Pretendard"/>
              </a:rPr>
              <a:t>과 함께합니다.</a:t>
            </a:r>
          </a:p>
        </p:txBody>
      </p:sp>
      <p:sp>
        <p:nvSpPr>
          <p:cNvPr id="36" name="Bottom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gradFill>
            <a:gsLst>
              <a:gs pos="0">
                <a:srgbClr val="0080FF"/>
              </a:gs>
              <a:gs pos="50000">
                <a:srgbClr val="0080FF"/>
              </a:gs>
              <a:gs pos="100000">
                <a:srgbClr val="00C2F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128665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9082F-BCE4-96CA-FDC7-049A249E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E0BB6E-77B5-158F-1C31-919198DD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평가하는 방법 </a:t>
            </a:r>
          </a:p>
        </p:txBody>
      </p:sp>
    </p:spTree>
    <p:extLst>
      <p:ext uri="{BB962C8B-B14F-4D97-AF65-F5344CB8AC3E}">
        <p14:creationId xmlns:p14="http://schemas.microsoft.com/office/powerpoint/2010/main" val="508114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rkHalf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1" name="CharMo"/>
          <p:cNvSpPr/>
          <p:nvPr/>
        </p:nvSpPr>
        <p:spPr>
          <a:xfrm>
            <a:off x="0" y="1524000"/>
            <a:ext cx="6096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4400" b="1" dirty="0">
                <a:solidFill>
                  <a:srgbClr val="0A1628"/>
                </a:solidFill>
                <a:latin typeface="Pretendard"/>
                <a:ea typeface="Pretendard"/>
              </a:rPr>
              <a:t>모</a:t>
            </a:r>
          </a:p>
        </p:txBody>
      </p:sp>
      <p:sp>
        <p:nvSpPr>
          <p:cNvPr id="52" name="CharSun"/>
          <p:cNvSpPr/>
          <p:nvPr/>
        </p:nvSpPr>
        <p:spPr>
          <a:xfrm>
            <a:off x="6096000" y="1524000"/>
            <a:ext cx="6096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4400" b="1" dirty="0">
                <a:solidFill>
                  <a:srgbClr val="FFFFFF"/>
                </a:solidFill>
                <a:latin typeface="Pretendard"/>
                <a:ea typeface="Pretendard"/>
              </a:rPr>
              <a:t>순</a:t>
            </a:r>
          </a:p>
        </p:txBody>
      </p:sp>
      <p:sp>
        <p:nvSpPr>
          <p:cNvPr id="53" name="SplitLine"/>
          <p:cNvSpPr/>
          <p:nvPr/>
        </p:nvSpPr>
        <p:spPr>
          <a:xfrm>
            <a:off x="6070600" y="0"/>
            <a:ext cx="50800" cy="6858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0" name="SubLeft"/>
          <p:cNvSpPr/>
          <p:nvPr/>
        </p:nvSpPr>
        <p:spPr>
          <a:xfrm>
            <a:off x="0" y="5080000"/>
            <a:ext cx="6070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500" b="1" spc="200" dirty="0">
                <a:solidFill>
                  <a:srgbClr val="4A5568"/>
                </a:solidFill>
                <a:latin typeface="Pretendard"/>
                <a:ea typeface="Pretendard"/>
              </a:rPr>
              <a:t>검증된 도구</a:t>
            </a:r>
          </a:p>
        </p:txBody>
      </p:sp>
      <p:sp>
        <p:nvSpPr>
          <p:cNvPr id="61" name="SubRight"/>
          <p:cNvSpPr/>
          <p:nvPr/>
        </p:nvSpPr>
        <p:spPr>
          <a:xfrm>
            <a:off x="6121400" y="5080000"/>
            <a:ext cx="6070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500" b="1" spc="200" dirty="0">
                <a:solidFill>
                  <a:srgbClr val="A0AEC0"/>
                </a:solidFill>
                <a:latin typeface="Pretendard"/>
                <a:ea typeface="Pretendard"/>
              </a:rPr>
              <a:t>검증되지 않은 측정</a:t>
            </a:r>
          </a:p>
        </p:txBody>
      </p:sp>
    </p:spTree>
    <p:extLst>
      <p:ext uri="{BB962C8B-B14F-4D97-AF65-F5344CB8AC3E}">
        <p14:creationId xmlns:p14="http://schemas.microsoft.com/office/powerpoint/2010/main" val="60287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Title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2800" b="1" dirty="0">
                <a:solidFill>
                  <a:srgbClr val="0A1628"/>
                </a:solidFill>
                <a:latin typeface="Pretendard"/>
                <a:ea typeface="Pretendard"/>
              </a:rPr>
              <a:t>검증된 도구, 검증되지 않은 측정</a:t>
            </a:r>
          </a:p>
        </p:txBody>
      </p:sp>
      <p:sp>
        <p:nvSpPr>
          <p:cNvPr id="101" name="TitleLine"/>
          <p:cNvSpPr/>
          <p:nvPr/>
        </p:nvSpPr>
        <p:spPr>
          <a:xfrm>
            <a:off x="762000" y="1079500"/>
            <a:ext cx="635000" cy="381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02" name="SubDesc"/>
          <p:cNvSpPr/>
          <p:nvPr/>
        </p:nvSpPr>
        <p:spPr>
          <a:xfrm>
            <a:off x="762000" y="1168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4A5568"/>
                </a:solidFill>
                <a:latin typeface="Pretendard"/>
                <a:ea typeface="Pretendard"/>
              </a:rPr>
              <a:t>세계에서 가장 많이 연구된 재활 평가 — 아직도 스톱워치와 종이차트로 측정 중</a:t>
            </a:r>
          </a:p>
        </p:txBody>
      </p:sp>
      <p:sp>
        <p:nvSpPr>
          <p:cNvPr id="103" name="Card0Bg"/>
          <p:cNvSpPr/>
          <p:nvPr/>
        </p:nvSpPr>
        <p:spPr>
          <a:xfrm>
            <a:off x="889000" y="2413000"/>
            <a:ext cx="3302000" cy="241300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04" name="Card0Accent"/>
          <p:cNvSpPr/>
          <p:nvPr/>
        </p:nvSpPr>
        <p:spPr>
          <a:xfrm>
            <a:off x="889000" y="2413000"/>
            <a:ext cx="3302000" cy="508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05" name="Card0Num"/>
          <p:cNvSpPr/>
          <p:nvPr/>
        </p:nvSpPr>
        <p:spPr>
          <a:xfrm>
            <a:off x="889000" y="2667000"/>
            <a:ext cx="3302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4800" b="1" dirty="0">
                <a:solidFill>
                  <a:srgbClr val="0080FF"/>
                </a:solidFill>
                <a:latin typeface="Montserrat"/>
              </a:rPr>
              <a:t>7,000</a:t>
            </a:r>
            <a:r>
              <a:rPr lang="ko-KR" altLang="en-US" sz="2400" b="1" dirty="0">
                <a:solidFill>
                  <a:srgbClr val="0080FF"/>
                </a:solidFill>
                <a:latin typeface="Pretendard"/>
                <a:ea typeface="Pretendard"/>
              </a:rPr>
              <a:t>+</a:t>
            </a:r>
          </a:p>
        </p:txBody>
      </p:sp>
      <p:sp>
        <p:nvSpPr>
          <p:cNvPr id="106" name="Card0Sep"/>
          <p:cNvSpPr/>
          <p:nvPr/>
        </p:nvSpPr>
        <p:spPr>
          <a:xfrm>
            <a:off x="1905000" y="3771900"/>
            <a:ext cx="127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07" name="Card0Label"/>
          <p:cNvSpPr/>
          <p:nvPr/>
        </p:nvSpPr>
        <p:spPr>
          <a:xfrm>
            <a:off x="889000" y="3937000"/>
            <a:ext cx="3302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altLang="ko-KR" sz="1800" b="1" dirty="0">
                <a:solidFill>
                  <a:srgbClr val="0A1628"/>
                </a:solidFill>
                <a:latin typeface="Pretendard"/>
                <a:ea typeface="Pretendard"/>
              </a:rPr>
              <a:t>BBS</a:t>
            </a:r>
          </a:p>
        </p:txBody>
      </p:sp>
      <p:sp>
        <p:nvSpPr>
          <p:cNvPr id="109" name="Card1Bg"/>
          <p:cNvSpPr/>
          <p:nvPr/>
        </p:nvSpPr>
        <p:spPr>
          <a:xfrm>
            <a:off x="4445000" y="2413000"/>
            <a:ext cx="3302000" cy="241300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10" name="Card1Accent"/>
          <p:cNvSpPr/>
          <p:nvPr/>
        </p:nvSpPr>
        <p:spPr>
          <a:xfrm>
            <a:off x="4445000" y="2413000"/>
            <a:ext cx="3302000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11" name="Card1Num"/>
          <p:cNvSpPr/>
          <p:nvPr/>
        </p:nvSpPr>
        <p:spPr>
          <a:xfrm>
            <a:off x="4445000" y="2667000"/>
            <a:ext cx="3302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4800" b="1" dirty="0">
                <a:solidFill>
                  <a:srgbClr val="0066CC"/>
                </a:solidFill>
                <a:latin typeface="Montserrat"/>
              </a:rPr>
              <a:t>5,000</a:t>
            </a:r>
            <a:r>
              <a:rPr lang="ko-KR" altLang="en-US" sz="2400" b="1" dirty="0">
                <a:solidFill>
                  <a:srgbClr val="0066CC"/>
                </a:solidFill>
                <a:latin typeface="Pretendard"/>
                <a:ea typeface="Pretendard"/>
              </a:rPr>
              <a:t>+</a:t>
            </a:r>
          </a:p>
        </p:txBody>
      </p:sp>
      <p:sp>
        <p:nvSpPr>
          <p:cNvPr id="112" name="Card1Sep"/>
          <p:cNvSpPr/>
          <p:nvPr/>
        </p:nvSpPr>
        <p:spPr>
          <a:xfrm>
            <a:off x="5461000" y="3771900"/>
            <a:ext cx="127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13" name="Card1Label"/>
          <p:cNvSpPr/>
          <p:nvPr/>
        </p:nvSpPr>
        <p:spPr>
          <a:xfrm>
            <a:off x="4445000" y="3937000"/>
            <a:ext cx="3302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altLang="ko-KR" sz="1800" b="1" dirty="0">
                <a:solidFill>
                  <a:srgbClr val="0A1628"/>
                </a:solidFill>
                <a:latin typeface="Pretendard"/>
                <a:ea typeface="Pretendard"/>
              </a:rPr>
              <a:t>TUG</a:t>
            </a:r>
          </a:p>
        </p:txBody>
      </p:sp>
      <p:sp>
        <p:nvSpPr>
          <p:cNvPr id="115" name="Card2Bg"/>
          <p:cNvSpPr/>
          <p:nvPr/>
        </p:nvSpPr>
        <p:spPr>
          <a:xfrm>
            <a:off x="8001000" y="2413000"/>
            <a:ext cx="3302000" cy="2413000"/>
          </a:xfrm>
          <a:prstGeom prst="round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16" name="Card2Accent"/>
          <p:cNvSpPr/>
          <p:nvPr/>
        </p:nvSpPr>
        <p:spPr>
          <a:xfrm>
            <a:off x="8001000" y="2413000"/>
            <a:ext cx="3302000" cy="50800"/>
          </a:xfrm>
          <a:prstGeom prst="rect">
            <a:avLst/>
          </a:prstGeom>
          <a:solidFill>
            <a:srgbClr val="004C99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17" name="Card2Num"/>
          <p:cNvSpPr/>
          <p:nvPr/>
        </p:nvSpPr>
        <p:spPr>
          <a:xfrm>
            <a:off x="8001000" y="2667000"/>
            <a:ext cx="3302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4800" b="1" dirty="0">
                <a:solidFill>
                  <a:srgbClr val="004C99"/>
                </a:solidFill>
                <a:latin typeface="Montserrat"/>
              </a:rPr>
              <a:t>3,000</a:t>
            </a:r>
            <a:r>
              <a:rPr lang="ko-KR" altLang="en-US" sz="2400" b="1" dirty="0">
                <a:solidFill>
                  <a:srgbClr val="004C99"/>
                </a:solidFill>
                <a:latin typeface="Pretendard"/>
                <a:ea typeface="Pretendard"/>
              </a:rPr>
              <a:t>+</a:t>
            </a:r>
          </a:p>
        </p:txBody>
      </p:sp>
      <p:sp>
        <p:nvSpPr>
          <p:cNvPr id="118" name="Card2Sep"/>
          <p:cNvSpPr/>
          <p:nvPr/>
        </p:nvSpPr>
        <p:spPr>
          <a:xfrm>
            <a:off x="9017000" y="3771900"/>
            <a:ext cx="12700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119" name="Card2Label"/>
          <p:cNvSpPr/>
          <p:nvPr/>
        </p:nvSpPr>
        <p:spPr>
          <a:xfrm>
            <a:off x="8001000" y="3937000"/>
            <a:ext cx="3302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altLang="ko-KR" sz="1800" b="1" dirty="0">
                <a:solidFill>
                  <a:srgbClr val="0A1628"/>
                </a:solidFill>
                <a:latin typeface="Pretendard"/>
                <a:ea typeface="Pretendard"/>
              </a:rPr>
              <a:t>10MWT</a:t>
            </a:r>
          </a:p>
        </p:txBody>
      </p:sp>
      <p:sp>
        <p:nvSpPr>
          <p:cNvPr id="124" name="Bottom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wrap="square" lIns="0" tIns="0" rIns="0" bIns="0" anchor="t"/>
          <a:lstStyle/>
          <a:p>
            <a:endParaRPr lang="ko-KR"/>
          </a:p>
        </p:txBody>
      </p:sp>
      <p:sp>
        <p:nvSpPr>
          <p:cNvPr id="200" name="CommonLabel"/>
          <p:cNvSpPr/>
          <p:nvPr/>
        </p:nvSpPr>
        <p:spPr>
          <a:xfrm>
            <a:off x="889000" y="49530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400" dirty="0">
                <a:solidFill>
                  <a:srgbClr val="718096"/>
                </a:solidFill>
                <a:latin typeface="Pretendard"/>
                <a:ea typeface="Pretendard"/>
              </a:rPr>
              <a:t>* PubMed 등재 연구 건수 기준</a:t>
            </a:r>
          </a:p>
        </p:txBody>
      </p:sp>
    </p:spTree>
    <p:extLst>
      <p:ext uri="{BB962C8B-B14F-4D97-AF65-F5344CB8AC3E}">
        <p14:creationId xmlns:p14="http://schemas.microsoft.com/office/powerpoint/2010/main" val="423999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QuoteLeft"/>
          <p:cNvSpPr/>
          <p:nvPr/>
        </p:nvSpPr>
        <p:spPr>
          <a:xfrm>
            <a:off x="1524000" y="160020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wrap="none" anchor="ctr" anchorCtr="0"/>
          <a:lstStyle/>
          <a:p>
            <a:pPr algn="ctr">
              <a:buNone/>
            </a:pPr>
            <a:r>
              <a:rPr lang="en-US" sz="7200" b="1" dirty="0">
                <a:solidFill>
                  <a:srgbClr val="0080FF">
                    <a:alpha val="70000"/>
                  </a:srgbClr>
                </a:solidFill>
                <a:latin typeface="Georgia"/>
              </a:rPr>
              <a:t>“</a:t>
            </a:r>
          </a:p>
        </p:txBody>
      </p:sp>
      <p:sp>
        <p:nvSpPr>
          <p:cNvPr id="51" name="MainQuote1"/>
          <p:cNvSpPr/>
          <p:nvPr/>
        </p:nvSpPr>
        <p:spPr>
          <a:xfrm>
            <a:off x="914400" y="22098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/>
              </a:rPr>
              <a:t>Garbage in,</a:t>
            </a:r>
          </a:p>
        </p:txBody>
      </p:sp>
      <p:sp>
        <p:nvSpPr>
          <p:cNvPr id="52" name="MainQuote2"/>
          <p:cNvSpPr/>
          <p:nvPr/>
        </p:nvSpPr>
        <p:spPr>
          <a:xfrm>
            <a:off x="914400" y="28956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>
              <a:buNone/>
            </a:pPr>
            <a:r>
              <a:rPr lang="en-US" sz="4400" b="1" dirty="0">
                <a:solidFill>
                  <a:srgbClr val="0080FF"/>
                </a:solidFill>
                <a:latin typeface="Montserrat"/>
              </a:rPr>
              <a:t>Garbage out.</a:t>
            </a:r>
          </a:p>
        </p:txBody>
      </p:sp>
      <p:sp>
        <p:nvSpPr>
          <p:cNvPr id="53" name="Subtitle"/>
          <p:cNvSpPr/>
          <p:nvPr/>
        </p:nvSpPr>
        <p:spPr>
          <a:xfrm>
            <a:off x="914400" y="3886200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/>
          <a:lstStyle/>
          <a:p>
            <a:pPr algn="ctr">
              <a:buNone/>
            </a:pPr>
            <a:r>
              <a:rPr lang="ko-KR" altLang="en-US" sz="1800" dirty="0">
                <a:solidFill>
                  <a:srgbClr val="FFFFFF">
                    <a:alpha val="80000"/>
                  </a:srgbClr>
                </a:solidFill>
                <a:latin typeface="Pretendard"/>
                <a:ea typeface="Pretendard"/>
              </a:rPr>
              <a:t>잘못된 데이터를 넣으면, 잘못된 결과가 나온다.</a:t>
            </a:r>
          </a:p>
        </p:txBody>
      </p:sp>
      <p:sp>
        <p:nvSpPr>
          <p:cNvPr id="54" name="QuoteRight"/>
          <p:cNvSpPr/>
          <p:nvPr/>
        </p:nvSpPr>
        <p:spPr>
          <a:xfrm>
            <a:off x="9601200" y="274320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wrap="none" anchor="ctr" anchorCtr="0"/>
          <a:lstStyle/>
          <a:p>
            <a:pPr algn="ctr">
              <a:buNone/>
            </a:pPr>
            <a:r>
              <a:rPr lang="en-US" sz="7200" b="1" dirty="0">
                <a:solidFill>
                  <a:srgbClr val="0080FF">
                    <a:alpha val="70000"/>
                  </a:srgbClr>
                </a:solidFill>
                <a:latin typeface="Georgia"/>
              </a:rPr>
              <a:t>”</a:t>
            </a:r>
          </a:p>
        </p:txBody>
      </p:sp>
      <p:sp>
        <p:nvSpPr>
          <p:cNvPr id="55" name="AccentLine"/>
          <p:cNvSpPr/>
          <p:nvPr/>
        </p:nvSpPr>
        <p:spPr>
          <a:xfrm>
            <a:off x="5334000" y="3657600"/>
            <a:ext cx="1524000" cy="360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6" name="BottomBar"/>
          <p:cNvSpPr/>
          <p:nvPr/>
        </p:nvSpPr>
        <p:spPr>
          <a:xfrm>
            <a:off x="0" y="6762000"/>
            <a:ext cx="12192000" cy="96000"/>
          </a:xfrm>
          <a:prstGeom prst="rect">
            <a:avLst/>
          </a:prstGeom>
          <a:gradFill>
            <a:gsLst>
              <a:gs pos="0">
                <a:srgbClr val="0080FF"/>
              </a:gs>
              <a:gs pos="100000">
                <a:srgbClr val="00CCF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7" name="DecoCircle"/>
          <p:cNvSpPr/>
          <p:nvPr/>
        </p:nvSpPr>
        <p:spPr>
          <a:xfrm>
            <a:off x="10058400" y="-228600"/>
            <a:ext cx="1828800" cy="1828800"/>
          </a:xfrm>
          <a:prstGeom prst="ellipse">
            <a:avLst/>
          </a:prstGeom>
          <a:solidFill>
            <a:srgbClr val="0080FF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8" name="DecoCircle2"/>
          <p:cNvSpPr/>
          <p:nvPr/>
        </p:nvSpPr>
        <p:spPr>
          <a:xfrm>
            <a:off x="-304800" y="5029200"/>
            <a:ext cx="1371600" cy="1371600"/>
          </a:xfrm>
          <a:prstGeom prst="ellipse">
            <a:avLst/>
          </a:prstGeom>
          <a:solidFill>
            <a:srgbClr val="0080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43923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lideTitle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2800" b="1" dirty="0">
                <a:solidFill>
                  <a:srgbClr val="0A1628"/>
                </a:solidFill>
                <a:latin typeface="Pretendard"/>
                <a:ea typeface="Pretendard"/>
              </a:rPr>
              <a:t>데이터가 만드는 변화</a:t>
            </a:r>
          </a:p>
        </p:txBody>
      </p:sp>
      <p:sp>
        <p:nvSpPr>
          <p:cNvPr id="501" name="TitleLine"/>
          <p:cNvSpPr/>
          <p:nvPr/>
        </p:nvSpPr>
        <p:spPr>
          <a:xfrm>
            <a:off x="762000" y="1079500"/>
            <a:ext cx="635000" cy="381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2" name="SubDesc"/>
          <p:cNvSpPr/>
          <p:nvPr/>
        </p:nvSpPr>
        <p:spPr>
          <a:xfrm>
            <a:off x="762000" y="1193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4A5568"/>
                </a:solidFill>
                <a:latin typeface="Pretendard"/>
                <a:ea typeface="Pretendard"/>
              </a:rPr>
              <a:t>기존 검사 프레임워크 유지 · 측정 방법만 정량화</a:t>
            </a:r>
          </a:p>
        </p:txBody>
      </p:sp>
      <p:sp>
        <p:nvSpPr>
          <p:cNvPr id="503" name="BigNumBg"/>
          <p:cNvSpPr/>
          <p:nvPr/>
        </p:nvSpPr>
        <p:spPr>
          <a:xfrm>
            <a:off x="762000" y="1714500"/>
            <a:ext cx="10668000" cy="12700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ko-KR"/>
          </a:p>
        </p:txBody>
      </p:sp>
      <p:sp>
        <p:nvSpPr>
          <p:cNvPr id="504" name="BigNumText"/>
          <p:cNvSpPr/>
          <p:nvPr/>
        </p:nvSpPr>
        <p:spPr>
          <a:xfrm>
            <a:off x="762000" y="1714500"/>
            <a:ext cx="10668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800" dirty="0">
                <a:solidFill>
                  <a:srgbClr val="A0AEC0"/>
                </a:solidFill>
                <a:latin typeface="Pretendard"/>
                <a:ea typeface="Pretendard"/>
              </a:rPr>
              <a:t>연간</a:t>
            </a:r>
            <a:r>
              <a:rPr lang="en-US" altLang="ko-KR" sz="1800" dirty="0">
                <a:solidFill>
                  <a:srgbClr val="A0AEC0"/>
                </a:solidFill>
                <a:latin typeface="Pretendard"/>
              </a:rPr>
              <a:t>  </a:t>
            </a:r>
            <a:r>
              <a:rPr lang="en-US" altLang="ko-KR" sz="4400" b="1" dirty="0">
                <a:solidFill>
                  <a:srgbClr val="FFFFFF"/>
                </a:solidFill>
                <a:latin typeface="Montserrat"/>
              </a:rPr>
              <a:t>10</a:t>
            </a:r>
            <a:r>
              <a:rPr lang="ko-KR" altLang="en-US" sz="2400" b="1" dirty="0">
                <a:solidFill>
                  <a:srgbClr val="FFFFFF"/>
                </a:solidFill>
                <a:latin typeface="Pretendard"/>
                <a:ea typeface="Pretendard"/>
              </a:rPr>
              <a:t>만 건</a:t>
            </a:r>
            <a:r>
              <a:rPr lang="en-US" altLang="ko-KR" sz="1800" dirty="0">
                <a:solidFill>
                  <a:srgbClr val="A0AEC0"/>
                </a:solidFill>
                <a:latin typeface="Pretendard"/>
              </a:rPr>
              <a:t>  </a:t>
            </a:r>
            <a:r>
              <a:rPr lang="ko-KR" altLang="en-US" sz="1800" dirty="0">
                <a:solidFill>
                  <a:srgbClr val="A0AEC0"/>
                </a:solidFill>
                <a:latin typeface="Pretendard"/>
                <a:ea typeface="Pretendard"/>
              </a:rPr>
              <a:t>표준화된 평가 데이터 축적</a:t>
            </a:r>
          </a:p>
        </p:txBody>
      </p:sp>
      <p:sp>
        <p:nvSpPr>
          <p:cNvPr id="505" name="OutcomeCard0Bg"/>
          <p:cNvSpPr/>
          <p:nvPr/>
        </p:nvSpPr>
        <p:spPr>
          <a:xfrm>
            <a:off x="889000" y="3302000"/>
            <a:ext cx="3302000" cy="20955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506" name="OutcomeIcon0"/>
          <p:cNvSpPr/>
          <p:nvPr/>
        </p:nvSpPr>
        <p:spPr>
          <a:xfrm>
            <a:off x="1079500" y="3530600"/>
            <a:ext cx="508000" cy="508000"/>
          </a:xfrm>
          <a:prstGeom prst="ellipse">
            <a:avLst/>
          </a:prstGeom>
          <a:solidFill>
            <a:srgbClr val="0080F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07" name="OutcomeTitle0"/>
          <p:cNvSpPr/>
          <p:nvPr/>
        </p:nvSpPr>
        <p:spPr>
          <a:xfrm>
            <a:off x="1079500" y="4191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600" b="1" dirty="0">
                <a:solidFill>
                  <a:srgbClr val="0A1628"/>
                </a:solidFill>
                <a:latin typeface="Pretendard"/>
                <a:ea typeface="Pretendard"/>
              </a:rPr>
              <a:t>병원 · 치료사 차이 제거</a:t>
            </a:r>
          </a:p>
        </p:txBody>
      </p:sp>
      <p:sp>
        <p:nvSpPr>
          <p:cNvPr id="508" name="OutcomeDesc0"/>
          <p:cNvSpPr/>
          <p:nvPr/>
        </p:nvSpPr>
        <p:spPr>
          <a:xfrm>
            <a:off x="1079500" y="46355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718096"/>
                </a:solidFill>
                <a:latin typeface="Pretendard"/>
                <a:ea typeface="Pretendard"/>
              </a:rPr>
              <a:t>환자의 움직임만 남는다</a:t>
            </a:r>
          </a:p>
        </p:txBody>
      </p:sp>
      <p:sp>
        <p:nvSpPr>
          <p:cNvPr id="509" name="OutcomeCard1Bg"/>
          <p:cNvSpPr/>
          <p:nvPr/>
        </p:nvSpPr>
        <p:spPr>
          <a:xfrm>
            <a:off x="4445000" y="3302000"/>
            <a:ext cx="3302000" cy="20955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510" name="OutcomeIcon1"/>
          <p:cNvSpPr/>
          <p:nvPr/>
        </p:nvSpPr>
        <p:spPr>
          <a:xfrm>
            <a:off x="4635500" y="3530600"/>
            <a:ext cx="508000" cy="508000"/>
          </a:xfrm>
          <a:prstGeom prst="ellipse">
            <a:avLst/>
          </a:prstGeom>
          <a:solidFill>
            <a:srgbClr val="0080F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511" name="OutcomeTitle1"/>
          <p:cNvSpPr/>
          <p:nvPr/>
        </p:nvSpPr>
        <p:spPr>
          <a:xfrm>
            <a:off x="4635500" y="4191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600" b="1" dirty="0">
                <a:solidFill>
                  <a:srgbClr val="0A1628"/>
                </a:solidFill>
                <a:latin typeface="Pretendard"/>
                <a:ea typeface="Pretendard"/>
              </a:rPr>
              <a:t>질환별 회복 궤적 분석</a:t>
            </a:r>
          </a:p>
        </p:txBody>
      </p:sp>
      <p:sp>
        <p:nvSpPr>
          <p:cNvPr id="512" name="OutcomeDesc1"/>
          <p:cNvSpPr/>
          <p:nvPr/>
        </p:nvSpPr>
        <p:spPr>
          <a:xfrm>
            <a:off x="4635500" y="46355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718096"/>
                </a:solidFill>
                <a:latin typeface="Pretendard"/>
                <a:ea typeface="Pretendard"/>
              </a:rPr>
              <a:t>표준 데이터로 비교 가능</a:t>
            </a:r>
          </a:p>
        </p:txBody>
      </p:sp>
      <p:sp>
        <p:nvSpPr>
          <p:cNvPr id="513" name="OutcomeCard2Bg"/>
          <p:cNvSpPr/>
          <p:nvPr/>
        </p:nvSpPr>
        <p:spPr>
          <a:xfrm>
            <a:off x="8001000" y="3302000"/>
            <a:ext cx="3302000" cy="20955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514" name="OutcomeIcon2"/>
          <p:cNvSpPr/>
          <p:nvPr/>
        </p:nvSpPr>
        <p:spPr>
          <a:xfrm>
            <a:off x="8191500" y="3530600"/>
            <a:ext cx="508000" cy="508000"/>
          </a:xfrm>
          <a:prstGeom prst="ellipse">
            <a:avLst/>
          </a:prstGeom>
          <a:solidFill>
            <a:srgbClr val="0080F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515" name="OutcomeTitle2"/>
          <p:cNvSpPr/>
          <p:nvPr/>
        </p:nvSpPr>
        <p:spPr>
          <a:xfrm>
            <a:off x="8191500" y="4191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600" b="1" dirty="0">
                <a:solidFill>
                  <a:srgbClr val="0A1628"/>
                </a:solidFill>
                <a:latin typeface="Pretendard"/>
                <a:ea typeface="Pretendard"/>
              </a:rPr>
              <a:t>국가 정책 근거 제공</a:t>
            </a:r>
          </a:p>
        </p:txBody>
      </p:sp>
      <p:sp>
        <p:nvSpPr>
          <p:cNvPr id="516" name="OutcomeDesc2"/>
          <p:cNvSpPr/>
          <p:nvPr/>
        </p:nvSpPr>
        <p:spPr>
          <a:xfrm>
            <a:off x="8191500" y="46355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718096"/>
                </a:solidFill>
                <a:latin typeface="Pretendard"/>
                <a:ea typeface="Pretendard"/>
              </a:rPr>
              <a:t>치료 효과의 객관적 증거</a:t>
            </a:r>
          </a:p>
        </p:txBody>
      </p:sp>
      <p:sp>
        <p:nvSpPr>
          <p:cNvPr id="517" name="TransitionText"/>
          <p:cNvSpPr/>
          <p:nvPr/>
        </p:nvSpPr>
        <p:spPr>
          <a:xfrm>
            <a:off x="762000" y="5715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500" dirty="0">
                <a:solidFill>
                  <a:srgbClr val="718096"/>
                </a:solidFill>
                <a:latin typeface="Pretendard"/>
                <a:ea typeface="Pretendard"/>
              </a:rPr>
              <a:t>종이차트의 숫자 하나 →  </a:t>
            </a:r>
            <a:r>
              <a:rPr lang="ko-KR" altLang="en-US" sz="1500" b="1" dirty="0">
                <a:solidFill>
                  <a:srgbClr val="0080FF"/>
                </a:solidFill>
                <a:latin typeface="Pretendard"/>
                <a:ea typeface="Pretendard"/>
              </a:rPr>
              <a:t>국가 표준 데이터</a:t>
            </a:r>
          </a:p>
        </p:txBody>
      </p:sp>
      <p:sp>
        <p:nvSpPr>
          <p:cNvPr id="518" name="Bottom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120710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itle"/>
          <p:cNvSpPr/>
          <p:nvPr/>
        </p:nvSpPr>
        <p:spPr>
          <a:xfrm>
            <a:off x="762000" y="254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endParaRPr lang="ko-KR" altLang="en-US" sz="1800" dirty="0">
              <a:solidFill>
                <a:srgbClr val="FFFFFF">
                  <a:alpha val="50000"/>
                </a:srgbClr>
              </a:solidFill>
              <a:latin typeface="Pretendard"/>
              <a:ea typeface="Pretendard"/>
            </a:endParaRPr>
          </a:p>
        </p:txBody>
      </p:sp>
      <p:sp>
        <p:nvSpPr>
          <p:cNvPr id="601" name="Headline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Pretendard"/>
                <a:ea typeface="Pretendard"/>
              </a:rPr>
              <a:t>측정의 나비효과</a:t>
            </a:r>
          </a:p>
        </p:txBody>
      </p:sp>
      <p:sp>
        <p:nvSpPr>
          <p:cNvPr id="602" name="LineTop"/>
          <p:cNvSpPr/>
          <p:nvPr/>
        </p:nvSpPr>
        <p:spPr>
          <a:xfrm>
            <a:off x="1778000" y="1905000"/>
            <a:ext cx="7366000" cy="1778000"/>
          </a:xfrm>
          <a:custGeom>
            <a:avLst/>
            <a:gdLst/>
            <a:ahLst/>
            <a:cxnLst/>
            <a:rect l="0" t="0" r="0" b="0"/>
            <a:pathLst>
              <a:path w="7366000" h="1778000">
                <a:moveTo>
                  <a:pt x="0" y="1778000"/>
                </a:moveTo>
                <a:cubicBezTo>
                  <a:pt x="2209800" y="1689100"/>
                  <a:pt x="4419600" y="889000"/>
                  <a:pt x="7366000" y="0"/>
                </a:cubicBezTo>
              </a:path>
            </a:pathLst>
          </a:custGeom>
          <a:noFill/>
          <a:ln w="38100" cap="rnd">
            <a:solidFill>
              <a:srgbClr val="0080FF"/>
            </a:solidFill>
            <a:round/>
          </a:ln>
        </p:spPr>
        <p:txBody>
          <a:bodyPr/>
          <a:lstStyle/>
          <a:p>
            <a:endParaRPr lang="ko-KR"/>
          </a:p>
        </p:txBody>
      </p:sp>
      <p:sp>
        <p:nvSpPr>
          <p:cNvPr id="603" name="LineBot"/>
          <p:cNvSpPr/>
          <p:nvPr/>
        </p:nvSpPr>
        <p:spPr>
          <a:xfrm>
            <a:off x="1778000" y="3683000"/>
            <a:ext cx="7366000" cy="1778000"/>
          </a:xfrm>
          <a:custGeom>
            <a:avLst/>
            <a:gdLst/>
            <a:ahLst/>
            <a:cxnLst/>
            <a:rect l="0" t="0" r="0" b="0"/>
            <a:pathLst>
              <a:path w="7366000" h="1778000">
                <a:moveTo>
                  <a:pt x="0" y="0"/>
                </a:moveTo>
                <a:cubicBezTo>
                  <a:pt x="2209800" y="88900"/>
                  <a:pt x="4419600" y="889000"/>
                  <a:pt x="7366000" y="1778000"/>
                </a:cubicBezTo>
              </a:path>
            </a:pathLst>
          </a:custGeom>
          <a:noFill/>
          <a:ln w="38100" cap="rnd">
            <a:solidFill>
              <a:srgbClr val="FF4D4D"/>
            </a:solidFill>
            <a:round/>
          </a:ln>
        </p:spPr>
        <p:txBody>
          <a:bodyPr/>
          <a:lstStyle/>
          <a:p>
            <a:endParaRPr lang="ko-KR"/>
          </a:p>
        </p:txBody>
      </p:sp>
      <p:sp>
        <p:nvSpPr>
          <p:cNvPr id="604" name="DivergeFill"/>
          <p:cNvSpPr/>
          <p:nvPr/>
        </p:nvSpPr>
        <p:spPr>
          <a:xfrm>
            <a:off x="1778000" y="1905000"/>
            <a:ext cx="7366000" cy="3556000"/>
          </a:xfrm>
          <a:custGeom>
            <a:avLst/>
            <a:gdLst/>
            <a:ahLst/>
            <a:cxnLst/>
            <a:rect l="0" t="0" r="0" b="0"/>
            <a:pathLst>
              <a:path w="7366000" h="3556000">
                <a:moveTo>
                  <a:pt x="0" y="1778000"/>
                </a:moveTo>
                <a:cubicBezTo>
                  <a:pt x="2209800" y="1689100"/>
                  <a:pt x="4419600" y="889000"/>
                  <a:pt x="7366000" y="0"/>
                </a:cubicBezTo>
                <a:lnTo>
                  <a:pt x="7366000" y="3556000"/>
                </a:lnTo>
                <a:cubicBezTo>
                  <a:pt x="4419600" y="2667000"/>
                  <a:pt x="2209800" y="1866900"/>
                  <a:pt x="0" y="190500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12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05" name="OriginDot"/>
          <p:cNvSpPr/>
          <p:nvPr/>
        </p:nvSpPr>
        <p:spPr>
          <a:xfrm>
            <a:off x="1676400" y="3581400"/>
            <a:ext cx="203200" cy="20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21" name="Bottom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00" name="OneDegLabel"/>
          <p:cNvSpPr/>
          <p:nvPr/>
        </p:nvSpPr>
        <p:spPr>
          <a:xfrm>
            <a:off x="1016000" y="3403600"/>
            <a:ext cx="63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3200" b="1" dirty="0">
                <a:solidFill>
                  <a:srgbClr val="0080FF"/>
                </a:solidFill>
                <a:latin typeface="Montserrat"/>
              </a:rPr>
              <a:t>1°</a:t>
            </a:r>
          </a:p>
        </p:txBody>
      </p:sp>
      <p:sp>
        <p:nvSpPr>
          <p:cNvPr id="800" name="TopEndBlock"/>
          <p:cNvSpPr/>
          <p:nvPr/>
        </p:nvSpPr>
        <p:spPr>
          <a:xfrm>
            <a:off x="9271000" y="1524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1600" b="1" dirty="0">
                <a:solidFill>
                  <a:srgbClr val="0080FF"/>
                </a:solidFill>
                <a:latin typeface="Pretendard"/>
                <a:ea typeface="Pretendard"/>
              </a:rPr>
              <a:t>정확한 측정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FFFFFF">
                    <a:alpha val="60000"/>
                  </a:srgbClr>
                </a:solidFill>
                <a:latin typeface="Pretendard"/>
                <a:ea typeface="Pretendard"/>
              </a:rPr>
              <a:t>→ 근거 기반 의사결정</a:t>
            </a:r>
          </a:p>
        </p:txBody>
      </p:sp>
      <p:sp>
        <p:nvSpPr>
          <p:cNvPr id="801" name="TopDot"/>
          <p:cNvSpPr/>
          <p:nvPr/>
        </p:nvSpPr>
        <p:spPr>
          <a:xfrm>
            <a:off x="9067800" y="1828800"/>
            <a:ext cx="152400" cy="152400"/>
          </a:xfrm>
          <a:prstGeom prst="ellipse">
            <a:avLst/>
          </a:prstGeom>
          <a:solidFill>
            <a:srgbClr val="0080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02" name="BotEndBlock"/>
          <p:cNvSpPr/>
          <p:nvPr/>
        </p:nvSpPr>
        <p:spPr>
          <a:xfrm>
            <a:off x="9271000" y="5080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ko-KR" altLang="en-US" sz="1600" b="1" dirty="0">
                <a:solidFill>
                  <a:srgbClr val="FF4D4D"/>
                </a:solidFill>
                <a:latin typeface="Pretendard"/>
                <a:ea typeface="Pretendard"/>
              </a:rPr>
              <a:t>부정확한 측정</a:t>
            </a:r>
          </a:p>
          <a:p>
            <a:pPr algn="l">
              <a:buNone/>
            </a:pPr>
            <a:r>
              <a:rPr lang="ko-KR" altLang="en-US" sz="1400" dirty="0">
                <a:solidFill>
                  <a:srgbClr val="FFFFFF">
                    <a:alpha val="60000"/>
                  </a:srgbClr>
                </a:solidFill>
                <a:latin typeface="Pretendard"/>
                <a:ea typeface="Pretendard"/>
              </a:rPr>
              <a:t>→ 잘못된 치료 방향</a:t>
            </a:r>
          </a:p>
        </p:txBody>
      </p:sp>
      <p:sp>
        <p:nvSpPr>
          <p:cNvPr id="803" name="BotDot"/>
          <p:cNvSpPr/>
          <p:nvPr/>
        </p:nvSpPr>
        <p:spPr>
          <a:xfrm>
            <a:off x="9067800" y="5384800"/>
            <a:ext cx="152400" cy="15240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804" name="DashLine0"/>
          <p:cNvSpPr/>
          <p:nvPr/>
        </p:nvSpPr>
        <p:spPr>
          <a:xfrm>
            <a:off x="2882900" y="1397000"/>
            <a:ext cx="0" cy="4699000"/>
          </a:xfrm>
          <a:prstGeom prst="rect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dash"/>
          </a:ln>
        </p:spPr>
        <p:txBody>
          <a:bodyPr/>
          <a:lstStyle/>
          <a:p>
            <a:endParaRPr lang="ko-KR"/>
          </a:p>
        </p:txBody>
      </p:sp>
      <p:sp>
        <p:nvSpPr>
          <p:cNvPr id="805" name="TimeLabel0"/>
          <p:cNvSpPr/>
          <p:nvPr/>
        </p:nvSpPr>
        <p:spPr>
          <a:xfrm>
            <a:off x="2438400" y="61595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FFFFFF">
                    <a:alpha val="50000"/>
                  </a:srgbClr>
                </a:solidFill>
                <a:latin typeface="Pretendard"/>
                <a:ea typeface="Pretendard"/>
              </a:rPr>
              <a:t>1개월</a:t>
            </a:r>
          </a:p>
        </p:txBody>
      </p:sp>
      <p:sp>
        <p:nvSpPr>
          <p:cNvPr id="806" name="DashLine1"/>
          <p:cNvSpPr/>
          <p:nvPr/>
        </p:nvSpPr>
        <p:spPr>
          <a:xfrm>
            <a:off x="5461000" y="1397000"/>
            <a:ext cx="0" cy="4699000"/>
          </a:xfrm>
          <a:prstGeom prst="rect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dash"/>
          </a:ln>
        </p:spPr>
        <p:txBody>
          <a:bodyPr/>
          <a:lstStyle/>
          <a:p>
            <a:endParaRPr lang="ko-KR"/>
          </a:p>
        </p:txBody>
      </p:sp>
      <p:sp>
        <p:nvSpPr>
          <p:cNvPr id="807" name="TimeLabel1"/>
          <p:cNvSpPr/>
          <p:nvPr/>
        </p:nvSpPr>
        <p:spPr>
          <a:xfrm>
            <a:off x="5016500" y="61595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FFFFFF">
                    <a:alpha val="50000"/>
                  </a:srgbClr>
                </a:solidFill>
                <a:latin typeface="Pretendard"/>
                <a:ea typeface="Pretendard"/>
              </a:rPr>
              <a:t>6개월</a:t>
            </a:r>
          </a:p>
        </p:txBody>
      </p:sp>
      <p:sp>
        <p:nvSpPr>
          <p:cNvPr id="808" name="DashLine2"/>
          <p:cNvSpPr/>
          <p:nvPr/>
        </p:nvSpPr>
        <p:spPr>
          <a:xfrm>
            <a:off x="8039100" y="1397000"/>
            <a:ext cx="0" cy="4699000"/>
          </a:xfrm>
          <a:prstGeom prst="rect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dash"/>
          </a:ln>
        </p:spPr>
        <p:txBody>
          <a:bodyPr/>
          <a:lstStyle/>
          <a:p>
            <a:endParaRPr lang="ko-KR"/>
          </a:p>
        </p:txBody>
      </p:sp>
      <p:sp>
        <p:nvSpPr>
          <p:cNvPr id="809" name="TimeLabel2"/>
          <p:cNvSpPr/>
          <p:nvPr/>
        </p:nvSpPr>
        <p:spPr>
          <a:xfrm>
            <a:off x="7594600" y="61595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FFFFFF">
                    <a:alpha val="50000"/>
                  </a:srgbClr>
                </a:solidFill>
                <a:latin typeface="Pretendard"/>
                <a:ea typeface="Pretendard"/>
              </a:rPr>
              <a:t>1년</a:t>
            </a:r>
          </a:p>
        </p:txBody>
      </p:sp>
      <p:sp>
        <p:nvSpPr>
          <p:cNvPr id="900" name="BottomMsg"/>
          <p:cNvSpPr/>
          <p:nvPr/>
        </p:nvSpPr>
        <p:spPr>
          <a:xfrm>
            <a:off x="762000" y="6451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400" dirty="0">
                <a:solidFill>
                  <a:srgbClr val="FFFFFF">
                    <a:alpha val="50000"/>
                  </a:srgbClr>
                </a:solidFill>
                <a:latin typeface="Pretendard"/>
                <a:ea typeface="Pretendard"/>
              </a:rPr>
              <a:t>검증된 도구의 </a:t>
            </a:r>
            <a:r>
              <a:rPr lang="ko-KR" altLang="en-US" sz="1400" b="1" dirty="0">
                <a:solidFill>
                  <a:srgbClr val="0080FF"/>
                </a:solidFill>
                <a:latin typeface="Pretendard"/>
                <a:ea typeface="Pretendard"/>
              </a:rPr>
              <a:t>양</a:t>
            </a:r>
            <a:r>
              <a:rPr lang="ko-KR" altLang="en-US" sz="1400" dirty="0">
                <a:solidFill>
                  <a:srgbClr val="FFFFFF">
                    <a:alpha val="50000"/>
                  </a:srgbClr>
                </a:solidFill>
                <a:latin typeface="Pretendard"/>
                <a:ea typeface="Pretendard"/>
              </a:rPr>
              <a:t>만으로는 충분하지 않다  —  측정의 </a:t>
            </a:r>
            <a:r>
              <a:rPr lang="ko-KR" altLang="en-US" sz="1400" b="1" dirty="0">
                <a:solidFill>
                  <a:srgbClr val="0080FF"/>
                </a:solidFill>
                <a:latin typeface="Pretendard"/>
                <a:ea typeface="Pretendard"/>
              </a:rPr>
              <a:t>질</a:t>
            </a:r>
            <a:r>
              <a:rPr lang="ko-KR" altLang="en-US" sz="1400" dirty="0">
                <a:solidFill>
                  <a:srgbClr val="FFFFFF">
                    <a:alpha val="50000"/>
                  </a:srgbClr>
                </a:solidFill>
                <a:latin typeface="Pretendard"/>
                <a:ea typeface="Pretendard"/>
              </a:rPr>
              <a:t>이 결과를 바꾼다</a:t>
            </a:r>
          </a:p>
        </p:txBody>
      </p:sp>
    </p:spTree>
    <p:extLst>
      <p:ext uri="{BB962C8B-B14F-4D97-AF65-F5344CB8AC3E}">
        <p14:creationId xmlns:p14="http://schemas.microsoft.com/office/powerpoint/2010/main" val="51698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EmphasisBg"/>
          <p:cNvSpPr/>
          <p:nvPr/>
        </p:nvSpPr>
        <p:spPr>
          <a:xfrm>
            <a:off x="1257300" y="1873868"/>
            <a:ext cx="9652000" cy="33020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E53E3E">
                <a:alpha val="25000"/>
              </a:srgbClr>
            </a:solidFill>
          </a:ln>
        </p:spPr>
        <p:txBody>
          <a:bodyPr wrap="square" lIns="0" tIns="0" rIns="0" bIns="0" anchor="ctr"/>
          <a:lstStyle/>
          <a:p>
            <a:endParaRPr lang="ko-KR"/>
          </a:p>
        </p:txBody>
      </p:sp>
      <p:sp>
        <p:nvSpPr>
          <p:cNvPr id="401" name="EmphNum1"/>
          <p:cNvSpPr/>
          <p:nvPr/>
        </p:nvSpPr>
        <p:spPr>
          <a:xfrm>
            <a:off x="1397000" y="2095500"/>
            <a:ext cx="4508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dirty="0">
                <a:solidFill>
                  <a:srgbClr val="718096"/>
                </a:solidFill>
                <a:latin typeface="Pretendard"/>
              </a:rPr>
              <a:t>TUG  </a:t>
            </a:r>
            <a:r>
              <a:rPr lang="en-US" altLang="ko-KR" sz="5400" b="1" dirty="0">
                <a:solidFill>
                  <a:srgbClr val="E53E3E"/>
                </a:solidFill>
                <a:latin typeface="Montserrat"/>
              </a:rPr>
              <a:t>12.3</a:t>
            </a:r>
            <a:r>
              <a:rPr lang="ko-KR" altLang="en-US" sz="2800" b="1" dirty="0">
                <a:solidFill>
                  <a:srgbClr val="E53E3E"/>
                </a:solidFill>
                <a:latin typeface="Pretendard"/>
                <a:ea typeface="Pretendard"/>
              </a:rPr>
              <a:t>초</a:t>
            </a:r>
          </a:p>
        </p:txBody>
      </p:sp>
      <p:sp>
        <p:nvSpPr>
          <p:cNvPr id="402" name="EmphDivider"/>
          <p:cNvSpPr/>
          <p:nvPr/>
        </p:nvSpPr>
        <p:spPr>
          <a:xfrm>
            <a:off x="6083300" y="2286000"/>
            <a:ext cx="25400" cy="952500"/>
          </a:xfrm>
          <a:prstGeom prst="rect">
            <a:avLst/>
          </a:prstGeom>
          <a:solidFill>
            <a:srgbClr val="CBD5E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03" name="EmphNum2"/>
          <p:cNvSpPr/>
          <p:nvPr/>
        </p:nvSpPr>
        <p:spPr>
          <a:xfrm>
            <a:off x="6286500" y="2095500"/>
            <a:ext cx="4508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dirty="0">
                <a:solidFill>
                  <a:srgbClr val="718096"/>
                </a:solidFill>
                <a:latin typeface="Pretendard"/>
              </a:rPr>
              <a:t>10MWT  </a:t>
            </a:r>
            <a:r>
              <a:rPr lang="en-US" altLang="ko-KR" sz="5400" b="1" dirty="0">
                <a:solidFill>
                  <a:srgbClr val="E53E3E"/>
                </a:solidFill>
                <a:latin typeface="Montserrat"/>
              </a:rPr>
              <a:t>8.7</a:t>
            </a:r>
            <a:r>
              <a:rPr lang="ko-KR" altLang="en-US" sz="2800" b="1" dirty="0">
                <a:solidFill>
                  <a:srgbClr val="E53E3E"/>
                </a:solidFill>
                <a:latin typeface="Pretendard"/>
                <a:ea typeface="Pretendard"/>
              </a:rPr>
              <a:t>초</a:t>
            </a:r>
          </a:p>
        </p:txBody>
      </p:sp>
      <p:sp>
        <p:nvSpPr>
          <p:cNvPr id="404" name="SepLine"/>
          <p:cNvSpPr/>
          <p:nvPr/>
        </p:nvSpPr>
        <p:spPr>
          <a:xfrm>
            <a:off x="2540000" y="3619500"/>
            <a:ext cx="71120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05" name="Tagline"/>
          <p:cNvSpPr/>
          <p:nvPr/>
        </p:nvSpPr>
        <p:spPr>
          <a:xfrm>
            <a:off x="1270000" y="3810000"/>
            <a:ext cx="965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400" b="1" dirty="0">
                <a:solidFill>
                  <a:srgbClr val="0A1628"/>
                </a:solidFill>
                <a:latin typeface="Pretendard"/>
                <a:ea typeface="Pretendard"/>
              </a:rPr>
              <a:t>남는 건 이 숫자 뿐</a:t>
            </a:r>
          </a:p>
          <a:p>
            <a:pPr algn="ctr">
              <a:buNone/>
            </a:pPr>
            <a:r>
              <a:rPr lang="ko-KR" altLang="en-US" sz="1500" dirty="0">
                <a:solidFill>
                  <a:srgbClr val="718096"/>
                </a:solidFill>
                <a:latin typeface="Pretendard"/>
                <a:ea typeface="Pretendard"/>
              </a:rPr>
              <a:t>나머지 모든 움직임 정보는 사라진다</a:t>
            </a:r>
          </a:p>
        </p:txBody>
      </p:sp>
      <p:sp>
        <p:nvSpPr>
          <p:cNvPr id="406" name="Bottom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967718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Title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en-US" altLang="ko-KR" sz="2800" b="1" dirty="0" err="1">
                <a:solidFill>
                  <a:srgbClr val="0080FF"/>
                </a:solidFill>
                <a:latin typeface="Montserrat"/>
              </a:rPr>
              <a:t>ReStep</a:t>
            </a:r>
            <a:r>
              <a:rPr lang="ko-KR" altLang="en-US" sz="2800" b="1" dirty="0">
                <a:solidFill>
                  <a:srgbClr val="0A1628"/>
                </a:solidFill>
                <a:latin typeface="Pretendard"/>
                <a:ea typeface="Pretendard"/>
              </a:rPr>
              <a:t> 시스템</a:t>
            </a:r>
          </a:p>
        </p:txBody>
      </p:sp>
      <p:sp>
        <p:nvSpPr>
          <p:cNvPr id="51" name="TitleLine"/>
          <p:cNvSpPr/>
          <p:nvPr/>
        </p:nvSpPr>
        <p:spPr>
          <a:xfrm>
            <a:off x="762000" y="1079500"/>
            <a:ext cx="635000" cy="3810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91" name="SubDesc"/>
          <p:cNvSpPr/>
          <p:nvPr/>
        </p:nvSpPr>
        <p:spPr>
          <a:xfrm>
            <a:off x="762000" y="11684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ko-KR" altLang="en-US" sz="1400" dirty="0">
                <a:solidFill>
                  <a:srgbClr val="4A5568"/>
                </a:solidFill>
                <a:latin typeface="Pretendard"/>
                <a:ea typeface="Pretendard"/>
              </a:rPr>
              <a:t>환자 중심의 통합 의료 연결 플랫폼</a:t>
            </a:r>
          </a:p>
        </p:txBody>
      </p:sp>
      <p:sp>
        <p:nvSpPr>
          <p:cNvPr id="90" name="BottomBar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gradFill>
            <a:gsLst>
              <a:gs pos="0">
                <a:srgbClr val="0080FF"/>
              </a:gs>
              <a:gs pos="50000">
                <a:srgbClr val="0080FF"/>
              </a:gs>
              <a:gs pos="100000">
                <a:srgbClr val="00C2F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0" name="OuterRing"/>
          <p:cNvSpPr/>
          <p:nvPr/>
        </p:nvSpPr>
        <p:spPr>
          <a:xfrm>
            <a:off x="3975100" y="2006600"/>
            <a:ext cx="4241800" cy="4241800"/>
          </a:xfrm>
          <a:prstGeom prst="ellipse">
            <a:avLst/>
          </a:prstGeom>
          <a:noFill/>
          <a:ln w="9525">
            <a:solidFill>
              <a:srgbClr val="0080FF">
                <a:alpha val="22000"/>
              </a:srgbClr>
            </a:solidFill>
            <a:prstDash val="dash"/>
          </a:ln>
        </p:spPr>
        <p:txBody>
          <a:bodyPr/>
          <a:lstStyle/>
          <a:p>
            <a:endParaRPr lang="ko-KR"/>
          </a:p>
        </p:txBody>
      </p:sp>
      <p:sp>
        <p:nvSpPr>
          <p:cNvPr id="301" name="Spoke301"/>
          <p:cNvSpPr/>
          <p:nvPr/>
        </p:nvSpPr>
        <p:spPr>
          <a:xfrm flipV="1">
            <a:off x="6096000" y="2844800"/>
            <a:ext cx="12700" cy="482600"/>
          </a:xfrm>
          <a:prstGeom prst="line">
            <a:avLst/>
          </a:prstGeom>
          <a:ln w="25400" cap="rnd">
            <a:solidFill>
              <a:srgbClr val="0052CC">
                <a:alpha val="55000"/>
              </a:srgbClr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2" name="Spoke302"/>
          <p:cNvSpPr/>
          <p:nvPr/>
        </p:nvSpPr>
        <p:spPr>
          <a:xfrm flipH="1">
            <a:off x="4985149" y="4527550"/>
            <a:ext cx="417944" cy="241300"/>
          </a:xfrm>
          <a:prstGeom prst="line">
            <a:avLst/>
          </a:prstGeom>
          <a:ln w="25400" cap="rnd">
            <a:solidFill>
              <a:srgbClr val="0080FF">
                <a:alpha val="55000"/>
              </a:srgbClr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03" name="Spoke303"/>
          <p:cNvSpPr/>
          <p:nvPr/>
        </p:nvSpPr>
        <p:spPr>
          <a:xfrm>
            <a:off x="6788907" y="4527550"/>
            <a:ext cx="417944" cy="241300"/>
          </a:xfrm>
          <a:prstGeom prst="line">
            <a:avLst/>
          </a:prstGeom>
          <a:ln w="25400" cap="rnd">
            <a:solidFill>
              <a:srgbClr val="00B4D8">
                <a:alpha val="55000"/>
              </a:srgbClr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310" name="Node310"/>
          <p:cNvSpPr/>
          <p:nvPr/>
        </p:nvSpPr>
        <p:spPr>
          <a:xfrm>
            <a:off x="5511800" y="1574800"/>
            <a:ext cx="1168400" cy="1168400"/>
          </a:xfrm>
          <a:prstGeom prst="ellipse">
            <a:avLst/>
          </a:prstGeom>
          <a:solidFill>
            <a:srgbClr val="0052CC"/>
          </a:solidFill>
          <a:ln w="0">
            <a:noFill/>
          </a:ln>
          <a:effectLst>
            <a:outerShdw blurRad="63500" dist="19050" dir="5400000" algn="t" rotWithShape="0">
              <a:srgbClr val="0052CC">
                <a:alpha val="25000"/>
              </a:srgbClr>
            </a:outerShdw>
          </a:effectLst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Montserrat"/>
              </a:rPr>
              <a:t>S</a:t>
            </a:r>
          </a:p>
        </p:txBody>
      </p:sp>
      <p:sp>
        <p:nvSpPr>
          <p:cNvPr id="311" name="NodeLabel311"/>
          <p:cNvSpPr/>
          <p:nvPr/>
        </p:nvSpPr>
        <p:spPr>
          <a:xfrm>
            <a:off x="5016500" y="11938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2D3748"/>
                </a:solidFill>
                <a:latin typeface="Pretendard"/>
                <a:ea typeface="Pretendard"/>
              </a:rPr>
              <a:t>의료시스템</a:t>
            </a:r>
          </a:p>
        </p:txBody>
      </p:sp>
      <p:sp>
        <p:nvSpPr>
          <p:cNvPr id="312" name="Node312"/>
          <p:cNvSpPr/>
          <p:nvPr/>
        </p:nvSpPr>
        <p:spPr>
          <a:xfrm>
            <a:off x="3807029" y="4527550"/>
            <a:ext cx="1168400" cy="1168400"/>
          </a:xfrm>
          <a:prstGeom prst="ellipse">
            <a:avLst/>
          </a:prstGeom>
          <a:solidFill>
            <a:srgbClr val="0080FF"/>
          </a:solidFill>
          <a:ln w="0">
            <a:noFill/>
          </a:ln>
          <a:effectLst>
            <a:outerShdw blurRad="63500" dist="19050" dir="5400000" algn="t" rotWithShape="0">
              <a:srgbClr val="0080FF">
                <a:alpha val="25000"/>
              </a:srgbClr>
            </a:outerShdw>
          </a:effectLst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Montserrat"/>
              </a:rPr>
              <a:t>T</a:t>
            </a:r>
          </a:p>
        </p:txBody>
      </p:sp>
      <p:sp>
        <p:nvSpPr>
          <p:cNvPr id="313" name="NodeLabel313"/>
          <p:cNvSpPr/>
          <p:nvPr/>
        </p:nvSpPr>
        <p:spPr>
          <a:xfrm>
            <a:off x="3311729" y="579755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2D3748"/>
                </a:solidFill>
                <a:latin typeface="Pretendard"/>
                <a:ea typeface="Pretendard"/>
              </a:rPr>
              <a:t>치료사</a:t>
            </a:r>
          </a:p>
        </p:txBody>
      </p:sp>
      <p:sp>
        <p:nvSpPr>
          <p:cNvPr id="314" name="Node314"/>
          <p:cNvSpPr/>
          <p:nvPr/>
        </p:nvSpPr>
        <p:spPr>
          <a:xfrm>
            <a:off x="7216571" y="4527550"/>
            <a:ext cx="1168400" cy="1168400"/>
          </a:xfrm>
          <a:prstGeom prst="ellipse">
            <a:avLst/>
          </a:prstGeom>
          <a:solidFill>
            <a:srgbClr val="00B4D8"/>
          </a:solidFill>
          <a:ln w="0">
            <a:noFill/>
          </a:ln>
          <a:effectLst>
            <a:outerShdw blurRad="63500" dist="19050" dir="5400000" algn="t" rotWithShape="0">
              <a:srgbClr val="00B4D8">
                <a:alpha val="25000"/>
              </a:srgbClr>
            </a:outerShdw>
          </a:effectLst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Montserrat"/>
              </a:rPr>
              <a:t>H</a:t>
            </a:r>
          </a:p>
        </p:txBody>
      </p:sp>
      <p:sp>
        <p:nvSpPr>
          <p:cNvPr id="315" name="NodeLabel315"/>
          <p:cNvSpPr/>
          <p:nvPr/>
        </p:nvSpPr>
        <p:spPr>
          <a:xfrm>
            <a:off x="6721271" y="579755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ko-KR" altLang="en-US" sz="1500" b="1" dirty="0">
                <a:solidFill>
                  <a:srgbClr val="2D3748"/>
                </a:solidFill>
                <a:latin typeface="Pretendard"/>
                <a:ea typeface="Pretendard"/>
              </a:rPr>
              <a:t>병원</a:t>
            </a:r>
          </a:p>
        </p:txBody>
      </p:sp>
      <p:sp>
        <p:nvSpPr>
          <p:cNvPr id="330" name="HubGlow"/>
          <p:cNvSpPr/>
          <p:nvPr/>
        </p:nvSpPr>
        <p:spPr>
          <a:xfrm>
            <a:off x="5295900" y="3327400"/>
            <a:ext cx="1600200" cy="1600200"/>
          </a:xfrm>
          <a:prstGeom prst="ellipse">
            <a:avLst/>
          </a:prstGeom>
          <a:solidFill>
            <a:srgbClr val="0080FF">
              <a:alpha val="12000"/>
            </a:srgbClr>
          </a:solidFill>
          <a:ln w="0"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31" name="HubCenter"/>
          <p:cNvSpPr/>
          <p:nvPr/>
        </p:nvSpPr>
        <p:spPr>
          <a:xfrm>
            <a:off x="5397500" y="3429000"/>
            <a:ext cx="1397000" cy="1397000"/>
          </a:xfrm>
          <a:prstGeom prst="ellipse">
            <a:avLst/>
          </a:prstGeom>
          <a:gradFill>
            <a:gsLst>
              <a:gs pos="0">
                <a:srgbClr val="0080FF"/>
              </a:gs>
              <a:gs pos="100000">
                <a:srgbClr val="0052CC"/>
              </a:gs>
            </a:gsLst>
            <a:lin ang="5400000" scaled="1"/>
          </a:gradFill>
          <a:ln w="0">
            <a:noFill/>
          </a:ln>
          <a:effectLst>
            <a:outerShdw blurRad="76200" dist="25400" dir="5400000" algn="t" rotWithShape="0">
              <a:srgbClr val="0080FF">
                <a:alpha val="30000"/>
              </a:srgbClr>
            </a:outerShdw>
          </a:effectLst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Pretendard"/>
                <a:ea typeface="Pretendard"/>
              </a:rPr>
              <a:t>환자</a:t>
            </a:r>
          </a:p>
        </p:txBody>
      </p:sp>
    </p:spTree>
    <p:extLst>
      <p:ext uri="{BB962C8B-B14F-4D97-AF65-F5344CB8AC3E}">
        <p14:creationId xmlns:p14="http://schemas.microsoft.com/office/powerpoint/2010/main" val="4239619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1176C-8ED5-45AA-B2DE-A77A9AD26FF8}"/>
              </a:ext>
            </a:extLst>
          </p:cNvPr>
          <p:cNvSpPr txBox="1"/>
          <p:nvPr/>
        </p:nvSpPr>
        <p:spPr>
          <a:xfrm>
            <a:off x="762000" y="381000"/>
            <a:ext cx="5080000" cy="584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altLang="ko-KR" sz="2800" b="1" dirty="0">
                <a:solidFill>
                  <a:srgbClr val="0080FF"/>
                </a:solidFill>
                <a:latin typeface="Montserrat"/>
              </a:rPr>
              <a:t>ReStep</a:t>
            </a:r>
            <a:r>
              <a:rPr lang="ko-KR" altLang="en-US" sz="2400" b="1" dirty="0">
                <a:solidFill>
                  <a:srgbClr val="0A1628"/>
                </a:solidFill>
                <a:latin typeface="Pretendard"/>
                <a:ea typeface="Pretendard"/>
              </a:rPr>
              <a:t> 보행분석 시스템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BEA2F-50C4-4806-B392-8544330084C3}"/>
              </a:ext>
            </a:extLst>
          </p:cNvPr>
          <p:cNvSpPr txBox="1"/>
          <p:nvPr/>
        </p:nvSpPr>
        <p:spPr>
          <a:xfrm>
            <a:off x="762000" y="10414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718096"/>
                </a:solidFill>
                <a:latin typeface="Pretendard"/>
              </a:rPr>
              <a:t>스마트폰으로 시작하는 임상급 보행분석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E4B1C6-58E8-44DB-8412-E5949F79C88D}"/>
              </a:ext>
            </a:extLst>
          </p:cNvPr>
          <p:cNvSpPr/>
          <p:nvPr/>
        </p:nvSpPr>
        <p:spPr>
          <a:xfrm>
            <a:off x="762000" y="990600"/>
            <a:ext cx="635000" cy="38100"/>
          </a:xfrm>
          <a:prstGeom prst="rect">
            <a:avLst/>
          </a:prstGeom>
          <a:solidFill>
            <a:srgbClr val="0080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420237A-023C-43A0-A9A0-4A1B41D7A4E4}"/>
              </a:ext>
            </a:extLst>
          </p:cNvPr>
          <p:cNvSpPr/>
          <p:nvPr/>
        </p:nvSpPr>
        <p:spPr>
          <a:xfrm>
            <a:off x="730250" y="1651000"/>
            <a:ext cx="3365500" cy="2476500"/>
          </a:xfrm>
          <a:prstGeom prst="roundRect">
            <a:avLst/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077E5A-BC1A-42D4-B3B1-919E87B972BD}"/>
              </a:ext>
            </a:extLst>
          </p:cNvPr>
          <p:cNvSpPr/>
          <p:nvPr/>
        </p:nvSpPr>
        <p:spPr>
          <a:xfrm>
            <a:off x="730250" y="1651000"/>
            <a:ext cx="3365500" cy="50800"/>
          </a:xfrm>
          <a:prstGeom prst="rect">
            <a:avLst/>
          </a:prstGeom>
          <a:solidFill>
            <a:srgbClr val="0080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53255-006C-40B3-B6C8-5CE954127B7A}"/>
              </a:ext>
            </a:extLst>
          </p:cNvPr>
          <p:cNvSpPr txBox="1"/>
          <p:nvPr/>
        </p:nvSpPr>
        <p:spPr>
          <a:xfrm>
            <a:off x="958850" y="18542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E2E8F0"/>
                </a:solidFill>
                <a:latin typeface="Montserrat"/>
              </a:rPr>
              <a:t>01</a:t>
            </a:r>
            <a:endParaRPr lang="ko-KR" altLang="en-US" sz="2400" b="1">
              <a:solidFill>
                <a:srgbClr val="E2E8F0"/>
              </a:solidFill>
              <a:latin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6F8F6-DA03-447C-A2A7-A37FDC8DF5ED}"/>
              </a:ext>
            </a:extLst>
          </p:cNvPr>
          <p:cNvSpPr txBox="1"/>
          <p:nvPr/>
        </p:nvSpPr>
        <p:spPr>
          <a:xfrm>
            <a:off x="958850" y="2286000"/>
            <a:ext cx="2857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0080FF"/>
                </a:solidFill>
                <a:latin typeface="Montserrat"/>
              </a:rPr>
              <a:t>What We Do</a:t>
            </a:r>
            <a:endParaRPr lang="ko-KR" altLang="en-US" sz="1400">
              <a:solidFill>
                <a:srgbClr val="0080FF"/>
              </a:solidFill>
              <a:latin typeface="Montserrat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849DD0-B0D8-47B8-A1EE-33119A05548C}"/>
              </a:ext>
            </a:extLst>
          </p:cNvPr>
          <p:cNvSpPr/>
          <p:nvPr/>
        </p:nvSpPr>
        <p:spPr>
          <a:xfrm>
            <a:off x="958850" y="2616200"/>
            <a:ext cx="381000" cy="25400"/>
          </a:xfrm>
          <a:prstGeom prst="rect">
            <a:avLst/>
          </a:prstGeom>
          <a:solidFill>
            <a:srgbClr val="0080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61D87D-F61D-406A-85B2-8911A90603E7}"/>
              </a:ext>
            </a:extLst>
          </p:cNvPr>
          <p:cNvSpPr txBox="1"/>
          <p:nvPr/>
        </p:nvSpPr>
        <p:spPr>
          <a:xfrm>
            <a:off x="958850" y="2743200"/>
            <a:ext cx="2857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A1628"/>
                </a:solidFill>
                <a:latin typeface="Pretendard"/>
              </a:rPr>
              <a:t>보행 평가 자동화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069E2-80B9-4621-9B32-245D648E8FAA}"/>
              </a:ext>
            </a:extLst>
          </p:cNvPr>
          <p:cNvSpPr txBox="1"/>
          <p:nvPr/>
        </p:nvSpPr>
        <p:spPr>
          <a:xfrm>
            <a:off x="958850" y="3251200"/>
            <a:ext cx="28575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718096"/>
                </a:solidFill>
                <a:latin typeface="Pretendard"/>
              </a:rPr>
              <a:t>10MWT / BBS / TUG</a:t>
            </a:r>
            <a:endParaRPr lang="ko-KR" altLang="en-US" sz="1400">
              <a:solidFill>
                <a:srgbClr val="718096"/>
              </a:solidFill>
              <a:latin typeface="Pretendard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08EE916-13E9-46E9-97FC-3A58BE17DD57}"/>
              </a:ext>
            </a:extLst>
          </p:cNvPr>
          <p:cNvSpPr/>
          <p:nvPr/>
        </p:nvSpPr>
        <p:spPr>
          <a:xfrm>
            <a:off x="4413250" y="1651000"/>
            <a:ext cx="3365500" cy="2476500"/>
          </a:xfrm>
          <a:prstGeom prst="roundRect">
            <a:avLst/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99002E-38A9-4A37-8D5D-46073CD710D2}"/>
              </a:ext>
            </a:extLst>
          </p:cNvPr>
          <p:cNvSpPr/>
          <p:nvPr/>
        </p:nvSpPr>
        <p:spPr>
          <a:xfrm>
            <a:off x="4413250" y="1651000"/>
            <a:ext cx="3365500" cy="50800"/>
          </a:xfrm>
          <a:prstGeom prst="rect">
            <a:avLst/>
          </a:prstGeom>
          <a:solidFill>
            <a:srgbClr val="0052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689645-341C-4403-B126-D0ADF5346CC7}"/>
              </a:ext>
            </a:extLst>
          </p:cNvPr>
          <p:cNvSpPr txBox="1"/>
          <p:nvPr/>
        </p:nvSpPr>
        <p:spPr>
          <a:xfrm>
            <a:off x="4641850" y="18542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E2E8F0"/>
                </a:solidFill>
                <a:latin typeface="Montserrat"/>
              </a:rPr>
              <a:t>02</a:t>
            </a:r>
            <a:endParaRPr lang="ko-KR" altLang="en-US" sz="2400" b="1">
              <a:solidFill>
                <a:srgbClr val="E2E8F0"/>
              </a:solidFill>
              <a:latin typeface="Montserra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90700F-53AE-41AB-B4BB-AB177E905C0E}"/>
              </a:ext>
            </a:extLst>
          </p:cNvPr>
          <p:cNvSpPr txBox="1"/>
          <p:nvPr/>
        </p:nvSpPr>
        <p:spPr>
          <a:xfrm>
            <a:off x="4641850" y="2286000"/>
            <a:ext cx="2857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0052CC"/>
                </a:solidFill>
                <a:latin typeface="Montserrat"/>
              </a:rPr>
              <a:t>What We Built</a:t>
            </a:r>
            <a:endParaRPr lang="ko-KR" altLang="en-US" sz="1400">
              <a:solidFill>
                <a:srgbClr val="0052CC"/>
              </a:solidFill>
              <a:latin typeface="Montserrat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C83A8D-3A60-4D74-9084-44B738FD1C6B}"/>
              </a:ext>
            </a:extLst>
          </p:cNvPr>
          <p:cNvSpPr/>
          <p:nvPr/>
        </p:nvSpPr>
        <p:spPr>
          <a:xfrm>
            <a:off x="4641850" y="2616200"/>
            <a:ext cx="381000" cy="25400"/>
          </a:xfrm>
          <a:prstGeom prst="rect">
            <a:avLst/>
          </a:prstGeom>
          <a:solidFill>
            <a:srgbClr val="0052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0BB6E-6C14-4777-A32D-551798081868}"/>
              </a:ext>
            </a:extLst>
          </p:cNvPr>
          <p:cNvSpPr txBox="1"/>
          <p:nvPr/>
        </p:nvSpPr>
        <p:spPr>
          <a:xfrm>
            <a:off x="4641850" y="2743200"/>
            <a:ext cx="2857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A1628"/>
                </a:solidFill>
                <a:latin typeface="Pretendard"/>
              </a:rPr>
              <a:t>데이터 추출 엔진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A40B5-F0E7-4935-BC1A-548AE4A94F9C}"/>
              </a:ext>
            </a:extLst>
          </p:cNvPr>
          <p:cNvSpPr txBox="1"/>
          <p:nvPr/>
        </p:nvSpPr>
        <p:spPr>
          <a:xfrm>
            <a:off x="4641850" y="3251200"/>
            <a:ext cx="28575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718096"/>
                </a:solidFill>
                <a:latin typeface="Pretendard"/>
              </a:rPr>
              <a:t>스마트폰 기반 분석 시스템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5140035-8F7E-4C68-B291-3295A153F4B6}"/>
              </a:ext>
            </a:extLst>
          </p:cNvPr>
          <p:cNvSpPr/>
          <p:nvPr/>
        </p:nvSpPr>
        <p:spPr>
          <a:xfrm>
            <a:off x="8096250" y="1651000"/>
            <a:ext cx="3365500" cy="2476500"/>
          </a:xfrm>
          <a:prstGeom prst="roundRect">
            <a:avLst/>
          </a:prstGeom>
          <a:solidFill>
            <a:srgbClr val="FFFFFF"/>
          </a:solidFill>
          <a:ln w="6350" cap="flat" cmpd="sng" algn="ctr">
            <a:solidFill>
              <a:srgbClr val="E2E8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1AA7A76-A317-4423-A99F-6D101BC2FB40}"/>
              </a:ext>
            </a:extLst>
          </p:cNvPr>
          <p:cNvSpPr/>
          <p:nvPr/>
        </p:nvSpPr>
        <p:spPr>
          <a:xfrm>
            <a:off x="8096250" y="1651000"/>
            <a:ext cx="3365500" cy="50800"/>
          </a:xfrm>
          <a:prstGeom prst="rect">
            <a:avLst/>
          </a:prstGeom>
          <a:solidFill>
            <a:srgbClr val="00B4D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BE8BFB-735A-43B7-B76F-048CBEAC7789}"/>
              </a:ext>
            </a:extLst>
          </p:cNvPr>
          <p:cNvSpPr txBox="1"/>
          <p:nvPr/>
        </p:nvSpPr>
        <p:spPr>
          <a:xfrm>
            <a:off x="8324850" y="1854200"/>
            <a:ext cx="76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E2E8F0"/>
                </a:solidFill>
                <a:latin typeface="Montserrat"/>
              </a:rPr>
              <a:t>03</a:t>
            </a:r>
            <a:endParaRPr lang="ko-KR" altLang="en-US" sz="2400" b="1">
              <a:solidFill>
                <a:srgbClr val="E2E8F0"/>
              </a:solidFill>
              <a:latin typeface="Montserra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4A1A47-A464-40D2-AC4D-ADAEDFFE50EE}"/>
              </a:ext>
            </a:extLst>
          </p:cNvPr>
          <p:cNvSpPr txBox="1"/>
          <p:nvPr/>
        </p:nvSpPr>
        <p:spPr>
          <a:xfrm>
            <a:off x="8324850" y="2286000"/>
            <a:ext cx="2857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00B4D8"/>
                </a:solidFill>
                <a:latin typeface="Montserrat"/>
              </a:rPr>
              <a:t>What We Want</a:t>
            </a:r>
            <a:endParaRPr lang="ko-KR" altLang="en-US" sz="1400">
              <a:solidFill>
                <a:srgbClr val="00B4D8"/>
              </a:solidFill>
              <a:latin typeface="Montserrat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341F7BD-1B5F-4236-9EA0-81F406C554EC}"/>
              </a:ext>
            </a:extLst>
          </p:cNvPr>
          <p:cNvSpPr/>
          <p:nvPr/>
        </p:nvSpPr>
        <p:spPr>
          <a:xfrm>
            <a:off x="8324850" y="2616200"/>
            <a:ext cx="381000" cy="25400"/>
          </a:xfrm>
          <a:prstGeom prst="rect">
            <a:avLst/>
          </a:prstGeom>
          <a:solidFill>
            <a:srgbClr val="00B4D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845213-B68D-49C1-93D1-160BCF155D74}"/>
              </a:ext>
            </a:extLst>
          </p:cNvPr>
          <p:cNvSpPr txBox="1"/>
          <p:nvPr/>
        </p:nvSpPr>
        <p:spPr>
          <a:xfrm>
            <a:off x="8324850" y="2743200"/>
            <a:ext cx="2857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 dirty="0">
                <a:solidFill>
                  <a:srgbClr val="0A1628"/>
                </a:solidFill>
                <a:latin typeface="Pretendard"/>
              </a:rPr>
              <a:t>의료 표준화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8E4EC9-3FB7-4920-85D4-7F246B2E8549}"/>
              </a:ext>
            </a:extLst>
          </p:cNvPr>
          <p:cNvSpPr txBox="1"/>
          <p:nvPr/>
        </p:nvSpPr>
        <p:spPr>
          <a:xfrm>
            <a:off x="8324850" y="3251200"/>
            <a:ext cx="28575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718096"/>
                </a:solidFill>
                <a:latin typeface="Pretendard"/>
              </a:rPr>
              <a:t>모든 병원 보급 </a:t>
            </a:r>
            <a:r>
              <a:rPr lang="en-US" altLang="ko-KR" sz="1400">
                <a:solidFill>
                  <a:srgbClr val="718096"/>
                </a:solidFill>
                <a:latin typeface="Pretendard"/>
              </a:rPr>
              <a:t>· AI </a:t>
            </a:r>
            <a:r>
              <a:rPr lang="ko-KR" altLang="en-US" sz="1400">
                <a:solidFill>
                  <a:srgbClr val="718096"/>
                </a:solidFill>
                <a:latin typeface="Pretendard"/>
              </a:rPr>
              <a:t>예후 예측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FCC07B-6CB8-4DD5-BDFA-5A56E53D7F15}"/>
              </a:ext>
            </a:extLst>
          </p:cNvPr>
          <p:cNvSpPr txBox="1"/>
          <p:nvPr/>
        </p:nvSpPr>
        <p:spPr>
          <a:xfrm>
            <a:off x="762000" y="4635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ko-KR" altLang="en-US" sz="1600" dirty="0">
                <a:solidFill>
                  <a:srgbClr val="718096"/>
                </a:solidFill>
                <a:latin typeface="Pretendard"/>
                <a:ea typeface="Pretendard"/>
              </a:rPr>
              <a:t>"</a:t>
            </a:r>
            <a:r>
              <a:rPr lang="ko-KR" altLang="en-US" sz="1600" b="1" dirty="0">
                <a:solidFill>
                  <a:srgbClr val="0080FF"/>
                </a:solidFill>
                <a:latin typeface="Pretendard"/>
                <a:ea typeface="Pretendard"/>
              </a:rPr>
              <a:t>최소한의 도구와 비용</a:t>
            </a:r>
            <a:r>
              <a:rPr lang="ko-KR" altLang="en-US" sz="1600" dirty="0">
                <a:solidFill>
                  <a:srgbClr val="0A1628"/>
                </a:solidFill>
                <a:latin typeface="Pretendard"/>
                <a:ea typeface="Pretendard"/>
              </a:rPr>
              <a:t>으로 임상급 보행평가를 실현합니다"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983723D-817A-4274-9BC3-A32E96FFFD4D}"/>
              </a:ext>
            </a:extLst>
          </p:cNvPr>
          <p:cNvSpPr/>
          <p:nvPr/>
        </p:nvSpPr>
        <p:spPr>
          <a:xfrm>
            <a:off x="2667000" y="5397500"/>
            <a:ext cx="1524000" cy="406400"/>
          </a:xfrm>
          <a:prstGeom prst="roundRect">
            <a:avLst/>
          </a:prstGeom>
          <a:solidFill>
            <a:srgbClr val="F7FAFC"/>
          </a:solidFill>
          <a:ln w="12700" cap="flat" cmpd="sng" algn="ctr">
            <a:solidFill>
              <a:srgbClr val="0080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0080FF"/>
                </a:solidFill>
                <a:latin typeface="Pretendard"/>
              </a:rPr>
              <a:t>환자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A1BCA07-A1FF-4C91-ABBF-FCAA05518882}"/>
              </a:ext>
            </a:extLst>
          </p:cNvPr>
          <p:cNvSpPr/>
          <p:nvPr/>
        </p:nvSpPr>
        <p:spPr>
          <a:xfrm>
            <a:off x="4445000" y="5397500"/>
            <a:ext cx="1524000" cy="406400"/>
          </a:xfrm>
          <a:prstGeom prst="roundRect">
            <a:avLst/>
          </a:prstGeom>
          <a:solidFill>
            <a:srgbClr val="F7FAFC"/>
          </a:solidFill>
          <a:ln w="12700" cap="flat" cmpd="sng" algn="ctr">
            <a:solidFill>
              <a:srgbClr val="0052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0052CC"/>
                </a:solidFill>
                <a:latin typeface="Pretendard"/>
              </a:rPr>
              <a:t>치료사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B94BB59-F12F-4D0A-A712-7F451239B312}"/>
              </a:ext>
            </a:extLst>
          </p:cNvPr>
          <p:cNvSpPr/>
          <p:nvPr/>
        </p:nvSpPr>
        <p:spPr>
          <a:xfrm>
            <a:off x="6223000" y="5397500"/>
            <a:ext cx="1524000" cy="406400"/>
          </a:xfrm>
          <a:prstGeom prst="roundRect">
            <a:avLst/>
          </a:prstGeom>
          <a:solidFill>
            <a:srgbClr val="F7FAFC"/>
          </a:solidFill>
          <a:ln w="12700" cap="flat" cmpd="sng" algn="ctr">
            <a:solidFill>
              <a:srgbClr val="00B4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00B4D8"/>
                </a:solidFill>
                <a:latin typeface="Pretendard"/>
              </a:rPr>
              <a:t>병원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1426154-FC38-4B8B-A5A7-6A78A73E2E42}"/>
              </a:ext>
            </a:extLst>
          </p:cNvPr>
          <p:cNvSpPr/>
          <p:nvPr/>
        </p:nvSpPr>
        <p:spPr>
          <a:xfrm>
            <a:off x="8001000" y="5397500"/>
            <a:ext cx="1524000" cy="406400"/>
          </a:xfrm>
          <a:prstGeom prst="roundRect">
            <a:avLst/>
          </a:prstGeom>
          <a:solidFill>
            <a:srgbClr val="F7FAFC"/>
          </a:solidFill>
          <a:ln w="12700" cap="flat" cmpd="sng" algn="ctr">
            <a:solidFill>
              <a:srgbClr val="0A162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0A1628"/>
                </a:solidFill>
                <a:latin typeface="Pretendard"/>
              </a:rPr>
              <a:t>의료시스템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916F354-475C-4293-BEC1-EB0762113ADC}"/>
              </a:ext>
            </a:extLst>
          </p:cNvPr>
          <p:cNvSpPr/>
          <p:nvPr/>
        </p:nvSpPr>
        <p:spPr>
          <a:xfrm>
            <a:off x="4292600" y="5575300"/>
            <a:ext cx="50800" cy="50800"/>
          </a:xfrm>
          <a:prstGeom prst="ellipse">
            <a:avLst/>
          </a:prstGeom>
          <a:solidFill>
            <a:srgbClr val="CBD5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3BF12B6F-A1A3-4350-B00D-00FDFEB51B08}"/>
              </a:ext>
            </a:extLst>
          </p:cNvPr>
          <p:cNvSpPr/>
          <p:nvPr/>
        </p:nvSpPr>
        <p:spPr>
          <a:xfrm>
            <a:off x="6070600" y="5575300"/>
            <a:ext cx="50800" cy="50800"/>
          </a:xfrm>
          <a:prstGeom prst="ellipse">
            <a:avLst/>
          </a:prstGeom>
          <a:solidFill>
            <a:srgbClr val="CBD5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FD97BB7-E8B2-438E-9924-C29FE2FA7E2A}"/>
              </a:ext>
            </a:extLst>
          </p:cNvPr>
          <p:cNvSpPr/>
          <p:nvPr/>
        </p:nvSpPr>
        <p:spPr>
          <a:xfrm>
            <a:off x="7848600" y="5575300"/>
            <a:ext cx="50800" cy="50800"/>
          </a:xfrm>
          <a:prstGeom prst="ellipse">
            <a:avLst/>
          </a:prstGeom>
          <a:solidFill>
            <a:srgbClr val="CBD5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22193A2-6C68-4BAC-B6AC-39C7D4DBA6ED}"/>
              </a:ext>
            </a:extLst>
          </p:cNvPr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80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6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FA32E3C-D244-41B8-83DF-BA0706409802}">
  <we:reference id="wa200010001" version="1.0.0.0" store="ko-KR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330</Words>
  <Application>Microsoft Office PowerPoint</Application>
  <PresentationFormat>와이드스크린</PresentationFormat>
  <Paragraphs>94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Pretendard</vt:lpstr>
      <vt:lpstr>맑은 고딕</vt:lpstr>
      <vt:lpstr>Arial</vt:lpstr>
      <vt:lpstr>Georgia</vt:lpstr>
      <vt:lpstr>Montserrat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태형 김</dc:creator>
  <cp:lastModifiedBy>태형 김</cp:lastModifiedBy>
  <cp:revision>7</cp:revision>
  <dcterms:created xsi:type="dcterms:W3CDTF">2026-02-14T05:18:24Z</dcterms:created>
  <dcterms:modified xsi:type="dcterms:W3CDTF">2026-02-19T08:44:14Z</dcterms:modified>
</cp:coreProperties>
</file>